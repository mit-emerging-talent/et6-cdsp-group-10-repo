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media/image7.jpg" ContentType="image/jpg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22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8" r:id="rId1"/>
  </p:sldMasterIdLst>
  <p:notesMasterIdLst>
    <p:notesMasterId r:id="rId14"/>
  </p:notesMasterIdLst>
  <p:sldIdLst>
    <p:sldId id="256" r:id="rId2"/>
    <p:sldId id="290" r:id="rId3"/>
    <p:sldId id="278" r:id="rId4"/>
    <p:sldId id="291" r:id="rId5"/>
    <p:sldId id="292" r:id="rId6"/>
    <p:sldId id="2147480776" r:id="rId7"/>
    <p:sldId id="293" r:id="rId8"/>
    <p:sldId id="274" r:id="rId9"/>
    <p:sldId id="294" r:id="rId10"/>
    <p:sldId id="262" r:id="rId11"/>
    <p:sldId id="288" r:id="rId12"/>
    <p:sldId id="2147480777" r:id="rId13"/>
  </p:sldIdLst>
  <p:sldSz cx="12192000" cy="6858000"/>
  <p:notesSz cx="12192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538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9622C0-C57D-4D86-9B58-88E859BDF9D6}" type="datetimeFigureOut">
              <a:rPr lang="en-AE" smtClean="0"/>
              <a:t>27/08/2025</a:t>
            </a:fld>
            <a:endParaRPr lang="en-A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1AA714-776A-47C7-9420-A132DAF7F051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3129460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Slide Image Placeholder 1">
            <a:extLst>
              <a:ext uri="{FF2B5EF4-FFF2-40B4-BE49-F238E27FC236}">
                <a16:creationId xmlns:a16="http://schemas.microsoft.com/office/drawing/2014/main" id="{F6E5E388-29AF-127D-7FE1-01A5FED17C3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7" name="Notes Placeholder 2">
            <a:extLst>
              <a:ext uri="{FF2B5EF4-FFF2-40B4-BE49-F238E27FC236}">
                <a16:creationId xmlns:a16="http://schemas.microsoft.com/office/drawing/2014/main" id="{7437319C-20D7-56C0-E01F-4C2B5ECCB7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altLang="en-US"/>
          </a:p>
        </p:txBody>
      </p:sp>
      <p:sp>
        <p:nvSpPr>
          <p:cNvPr id="52228" name="Slide Number Placeholder 3">
            <a:extLst>
              <a:ext uri="{FF2B5EF4-FFF2-40B4-BE49-F238E27FC236}">
                <a16:creationId xmlns:a16="http://schemas.microsoft.com/office/drawing/2014/main" id="{228A4FDE-FD50-8BDB-E348-CB21D8FA582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83EE8322-65CF-4B0D-9885-C945A1513D37}" type="slidenum">
              <a:rPr lang="en-AE" altLang="en-US" smtClean="0"/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AE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1db3362e378_2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1db3362e378_2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7232b39220_8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7232b39220_8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A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0270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181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3354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2707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4691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832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</p:spTree>
    <p:extLst>
      <p:ext uri="{BB962C8B-B14F-4D97-AF65-F5344CB8AC3E}">
        <p14:creationId xmlns:p14="http://schemas.microsoft.com/office/powerpoint/2010/main" val="1457319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78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A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5508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343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9632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A city skyline with a few tall buildings&#10;&#10;Description automatically generated with medium confidence">
            <a:extLst>
              <a:ext uri="{FF2B5EF4-FFF2-40B4-BE49-F238E27FC236}">
                <a16:creationId xmlns:a16="http://schemas.microsoft.com/office/drawing/2014/main" id="{59A73F06-53DA-8EA2-ADC0-E9E1B42D55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650A7E6-88F1-479B-AAF8-AFA897FFC8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4149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AE"/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7EFBB70E-2A21-D293-07D2-210D0931FDB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25" y="0"/>
            <a:ext cx="1228725" cy="2300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9">
            <a:extLst>
              <a:ext uri="{FF2B5EF4-FFF2-40B4-BE49-F238E27FC236}">
                <a16:creationId xmlns:a16="http://schemas.microsoft.com/office/drawing/2014/main" id="{BB74D12D-5B98-9C07-381B-85070DCCA7F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0680700" y="6308725"/>
            <a:ext cx="1236663" cy="2460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algn="r" eaLnBrk="1" hangingPunct="1">
              <a:defRPr/>
            </a:pPr>
            <a:fld id="{F40B254A-2B6B-45EC-A0D7-B5217586B076}" type="slidenum">
              <a:rPr lang="en-US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defRPr/>
              </a:pPr>
              <a:t>‹#›</a:t>
            </a:fld>
            <a:endParaRPr lang="en-US" altLang="en-US" sz="10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itle 16"/>
          <p:cNvSpPr>
            <a:spLocks noGrp="1"/>
          </p:cNvSpPr>
          <p:nvPr>
            <p:ph type="title"/>
          </p:nvPr>
        </p:nvSpPr>
        <p:spPr>
          <a:xfrm>
            <a:off x="269689" y="446567"/>
            <a:ext cx="5167391" cy="642458"/>
          </a:xfrm>
        </p:spPr>
        <p:txBody>
          <a:bodyPr>
            <a:noAutofit/>
          </a:bodyPr>
          <a:lstStyle>
            <a:lvl1pPr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F20D98F-6509-0386-27AE-AFEB32EE98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80988" y="6308725"/>
            <a:ext cx="5445125" cy="246063"/>
          </a:xfrm>
        </p:spPr>
        <p:txBody>
          <a:bodyPr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AE"/>
              <a:t>Slide Footnote</a:t>
            </a:r>
          </a:p>
        </p:txBody>
      </p:sp>
    </p:spTree>
    <p:extLst>
      <p:ext uri="{BB962C8B-B14F-4D97-AF65-F5344CB8AC3E}">
        <p14:creationId xmlns:p14="http://schemas.microsoft.com/office/powerpoint/2010/main" val="18108822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 descr="A white and grey background&#10;&#10;Description automatically generated">
            <a:extLst>
              <a:ext uri="{FF2B5EF4-FFF2-40B4-BE49-F238E27FC236}">
                <a16:creationId xmlns:a16="http://schemas.microsoft.com/office/drawing/2014/main" id="{19729742-29FD-CBC0-8C6D-0787861A7FB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7">
            <a:extLst>
              <a:ext uri="{FF2B5EF4-FFF2-40B4-BE49-F238E27FC236}">
                <a16:creationId xmlns:a16="http://schemas.microsoft.com/office/drawing/2014/main" id="{6BABFC99-4A6F-9D32-FB80-869158F6FB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66625" y="0"/>
            <a:ext cx="1228725" cy="2300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4D32F098-2A69-B579-5453-F8B41061387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0680700" y="6308725"/>
            <a:ext cx="1236663" cy="2460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algn="r" eaLnBrk="1" hangingPunct="1">
              <a:defRPr/>
            </a:pPr>
            <a:fld id="{87ED1115-1C0E-4BB6-8D38-8A26B7FC782B}" type="slidenum">
              <a:rPr lang="en-US" altLang="en-US" sz="100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r" eaLnBrk="1" hangingPunct="1">
                <a:defRPr/>
              </a:pPr>
              <a:t>‹#›</a:t>
            </a:fld>
            <a:endParaRPr lang="en-US" altLang="en-US" sz="100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6"/>
          <p:cNvSpPr>
            <a:spLocks noGrp="1"/>
          </p:cNvSpPr>
          <p:nvPr>
            <p:ph type="title"/>
          </p:nvPr>
        </p:nvSpPr>
        <p:spPr>
          <a:xfrm>
            <a:off x="269689" y="238173"/>
            <a:ext cx="5167391" cy="642458"/>
          </a:xfrm>
        </p:spPr>
        <p:txBody>
          <a:bodyPr>
            <a:noAutofit/>
          </a:bodyPr>
          <a:lstStyle>
            <a:lvl1pPr>
              <a:defRPr sz="3600" b="1">
                <a:solidFill>
                  <a:srgbClr val="92B6BB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13076-352F-CA36-09DA-C14C1F99A8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80988" y="6308725"/>
            <a:ext cx="5445125" cy="246063"/>
          </a:xfrm>
        </p:spPr>
        <p:txBody>
          <a:bodyPr/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AE"/>
              <a:t>Slide Footnote</a:t>
            </a:r>
          </a:p>
        </p:txBody>
      </p:sp>
    </p:spTree>
    <p:extLst>
      <p:ext uri="{BB962C8B-B14F-4D97-AF65-F5344CB8AC3E}">
        <p14:creationId xmlns:p14="http://schemas.microsoft.com/office/powerpoint/2010/main" val="2693174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8/27/2025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6F15528-21DE-4FAA-801E-634DDDAF4B2B}" type="slidenum">
              <a:rPr lang="en-AE" smtClean="0"/>
              <a:t>‹#›</a:t>
            </a:fld>
            <a:endParaRPr lang="en-AE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FD679B6B-1D43-240B-3AE4-F7A5BA6D638A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5030" y="-2"/>
            <a:ext cx="1156970" cy="11569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AF483C-65A1-2DB7-D520-DE39C4ADE203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"/>
            <a:ext cx="1181100" cy="1156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019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ebp"/><Relationship Id="rId2" Type="http://schemas.openxmlformats.org/officeDocument/2006/relationships/image" Target="../media/image8.webp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ebp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-38100" y="0"/>
            <a:ext cx="122301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1D6077">
              <a:alpha val="7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273175" y="1589150"/>
            <a:ext cx="2568575" cy="3740150"/>
          </a:xfrm>
          <a:custGeom>
            <a:avLst/>
            <a:gdLst/>
            <a:ahLst/>
            <a:cxnLst/>
            <a:rect l="l" t="t" r="r" b="b"/>
            <a:pathLst>
              <a:path w="2568575" h="3740150">
                <a:moveTo>
                  <a:pt x="2563114" y="374014"/>
                </a:moveTo>
                <a:lnTo>
                  <a:pt x="2568575" y="0"/>
                </a:lnTo>
                <a:lnTo>
                  <a:pt x="0" y="0"/>
                </a:lnTo>
                <a:lnTo>
                  <a:pt x="0" y="3740150"/>
                </a:lnTo>
                <a:lnTo>
                  <a:pt x="2541142" y="3740150"/>
                </a:lnTo>
                <a:lnTo>
                  <a:pt x="2541142" y="3262503"/>
                </a:lnTo>
              </a:path>
            </a:pathLst>
          </a:custGeom>
          <a:ln w="762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263519" y="3600069"/>
            <a:ext cx="7142353" cy="580031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2700" marR="5080" algn="l" rtl="0">
              <a:lnSpc>
                <a:spcPct val="90300"/>
              </a:lnSpc>
              <a:spcBef>
                <a:spcPts val="335"/>
              </a:spcBef>
              <a:tabLst>
                <a:tab pos="1268095" algn="l"/>
                <a:tab pos="1447165" algn="l"/>
              </a:tabLst>
            </a:pPr>
            <a:r>
              <a:rPr lang="en-US" b="1" dirty="0">
                <a:solidFill>
                  <a:srgbClr val="FFFFFF"/>
                </a:solidFill>
                <a:latin typeface="Arial"/>
                <a:cs typeface="Arial"/>
              </a:rPr>
              <a:t>Group#10: Data Nerds</a:t>
            </a:r>
          </a:p>
          <a:p>
            <a:pPr marL="12700" marR="5080">
              <a:lnSpc>
                <a:spcPct val="90300"/>
              </a:lnSpc>
              <a:spcBef>
                <a:spcPts val="335"/>
              </a:spcBef>
              <a:tabLst>
                <a:tab pos="1268095" algn="l"/>
                <a:tab pos="1447165" algn="l"/>
              </a:tabLst>
            </a:pPr>
            <a:r>
              <a:rPr lang="en-US" sz="1800" b="1" dirty="0">
                <a:solidFill>
                  <a:srgbClr val="FFFFFF"/>
                </a:solidFill>
                <a:latin typeface="Arial"/>
                <a:cs typeface="Arial"/>
              </a:rPr>
              <a:t>Date: 28-08-2025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184400" y="2487625"/>
            <a:ext cx="8504555" cy="997585"/>
          </a:xfrm>
          <a:custGeom>
            <a:avLst/>
            <a:gdLst/>
            <a:ahLst/>
            <a:cxnLst/>
            <a:rect l="l" t="t" r="r" b="b"/>
            <a:pathLst>
              <a:path w="8504555" h="997585">
                <a:moveTo>
                  <a:pt x="8504555" y="0"/>
                </a:moveTo>
                <a:lnTo>
                  <a:pt x="0" y="0"/>
                </a:lnTo>
                <a:lnTo>
                  <a:pt x="0" y="997381"/>
                </a:lnTo>
                <a:lnTo>
                  <a:pt x="8504555" y="997381"/>
                </a:lnTo>
                <a:lnTo>
                  <a:pt x="8504555" y="0"/>
                </a:lnTo>
                <a:close/>
              </a:path>
            </a:pathLst>
          </a:custGeom>
          <a:solidFill>
            <a:schemeClr val="accent6">
              <a:lumMod val="75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2971800" y="2714754"/>
            <a:ext cx="7887334" cy="866263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2388870" marR="5080" indent="-2376805">
              <a:lnSpc>
                <a:spcPct val="101099"/>
              </a:lnSpc>
              <a:spcBef>
                <a:spcPts val="65"/>
              </a:spcBef>
            </a:pPr>
            <a:r>
              <a:rPr lang="en" sz="2800" dirty="0">
                <a:solidFill>
                  <a:schemeClr val="bg1"/>
                </a:solidFill>
              </a:rPr>
              <a:t>Construction Sites &amp; Renewable Energy</a:t>
            </a:r>
            <a:br>
              <a:rPr lang="en-US" sz="2900" b="1" dirty="0">
                <a:solidFill>
                  <a:schemeClr val="bg1"/>
                </a:solidFill>
                <a:latin typeface="Arial"/>
                <a:cs typeface="Arial"/>
              </a:rPr>
            </a:br>
            <a:endParaRPr sz="2900" b="1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9D93CD-C897-4DA9-5C59-4F3AFA014E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5030" y="-2"/>
            <a:ext cx="1156970" cy="115697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40BDE4-A39D-BB57-CD6B-1B31A3711D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8099" y="-2"/>
            <a:ext cx="1181100" cy="11569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extBox 3">
            <a:extLst>
              <a:ext uri="{FF2B5EF4-FFF2-40B4-BE49-F238E27FC236}">
                <a16:creationId xmlns:a16="http://schemas.microsoft.com/office/drawing/2014/main" id="{01B4159A-AB0B-DB14-DC6B-F94EC64AC6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6538" y="163513"/>
            <a:ext cx="9213850" cy="1017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ts val="8063"/>
              </a:lnSpc>
              <a:spcBef>
                <a:spcPct val="0"/>
              </a:spcBef>
              <a:buFontTx/>
              <a:buNone/>
            </a:pPr>
            <a:r>
              <a:rPr lang="en-AE" altLang="en-US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17411" name="Content Placeholder 2">
            <a:extLst>
              <a:ext uri="{FF2B5EF4-FFF2-40B4-BE49-F238E27FC236}">
                <a16:creationId xmlns:a16="http://schemas.microsoft.com/office/drawing/2014/main" id="{79F45B30-A437-6D6C-1E60-EB7544BC2B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1222375"/>
            <a:ext cx="4067175" cy="4913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457200" indent="-4572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Aptos" panose="020B0004020202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Aptos" panose="020B0004020202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Aptos" panose="020B0004020202020204" pitchFamily="34" charset="0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Introduction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The Problem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Our Approach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Key Findings</a:t>
            </a:r>
          </a:p>
          <a:p>
            <a:pPr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Conclusion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Communication &amp; Impact</a:t>
            </a:r>
          </a:p>
          <a:p>
            <a:pPr eaLnBrk="1" hangingPunct="1">
              <a:lnSpc>
                <a:spcPct val="120000"/>
              </a:lnSpc>
            </a:pPr>
            <a:r>
              <a:rPr lang="en-US" altLang="en-US" sz="2400" dirty="0">
                <a:solidFill>
                  <a:schemeClr val="bg1"/>
                </a:solidFill>
                <a:latin typeface="Arial" panose="020B0604020202020204" pitchFamily="34" charset="0"/>
                <a:ea typeface="Roboto" panose="02000000000000000000" pitchFamily="2" charset="0"/>
                <a:cs typeface="Arial" panose="020B0604020202020204" pitchFamily="34" charset="0"/>
              </a:rP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0" y="1143000"/>
            <a:ext cx="12192000" cy="152400"/>
          </a:xfrm>
          <a:custGeom>
            <a:avLst/>
            <a:gdLst/>
            <a:ahLst/>
            <a:cxnLst/>
            <a:rect l="l" t="t" r="r" b="b"/>
            <a:pathLst>
              <a:path w="11734800" h="76200">
                <a:moveTo>
                  <a:pt x="38100" y="0"/>
                </a:moveTo>
                <a:lnTo>
                  <a:pt x="0" y="38100"/>
                </a:lnTo>
                <a:lnTo>
                  <a:pt x="38100" y="76200"/>
                </a:lnTo>
                <a:lnTo>
                  <a:pt x="73025" y="41275"/>
                </a:lnTo>
                <a:lnTo>
                  <a:pt x="38100" y="41275"/>
                </a:lnTo>
                <a:lnTo>
                  <a:pt x="38100" y="34925"/>
                </a:lnTo>
                <a:lnTo>
                  <a:pt x="73025" y="34925"/>
                </a:lnTo>
                <a:lnTo>
                  <a:pt x="38100" y="0"/>
                </a:lnTo>
                <a:close/>
              </a:path>
              <a:path w="11734800" h="76200">
                <a:moveTo>
                  <a:pt x="11696700" y="0"/>
                </a:moveTo>
                <a:lnTo>
                  <a:pt x="11658600" y="38100"/>
                </a:lnTo>
                <a:lnTo>
                  <a:pt x="11696700" y="76200"/>
                </a:lnTo>
                <a:lnTo>
                  <a:pt x="11731625" y="41275"/>
                </a:lnTo>
                <a:lnTo>
                  <a:pt x="11696700" y="41275"/>
                </a:lnTo>
                <a:lnTo>
                  <a:pt x="11696700" y="34925"/>
                </a:lnTo>
                <a:lnTo>
                  <a:pt x="11731625" y="34925"/>
                </a:lnTo>
                <a:lnTo>
                  <a:pt x="11696700" y="0"/>
                </a:lnTo>
                <a:close/>
              </a:path>
              <a:path w="11734800" h="76200">
                <a:moveTo>
                  <a:pt x="73025" y="34925"/>
                </a:moveTo>
                <a:lnTo>
                  <a:pt x="38100" y="34925"/>
                </a:lnTo>
                <a:lnTo>
                  <a:pt x="38100" y="41275"/>
                </a:lnTo>
                <a:lnTo>
                  <a:pt x="73025" y="41275"/>
                </a:lnTo>
                <a:lnTo>
                  <a:pt x="76200" y="38100"/>
                </a:lnTo>
                <a:lnTo>
                  <a:pt x="73025" y="34925"/>
                </a:lnTo>
                <a:close/>
              </a:path>
              <a:path w="11734800" h="76200">
                <a:moveTo>
                  <a:pt x="11661775" y="34925"/>
                </a:moveTo>
                <a:lnTo>
                  <a:pt x="73025" y="34925"/>
                </a:lnTo>
                <a:lnTo>
                  <a:pt x="76200" y="38100"/>
                </a:lnTo>
                <a:lnTo>
                  <a:pt x="73025" y="41275"/>
                </a:lnTo>
                <a:lnTo>
                  <a:pt x="11661775" y="41275"/>
                </a:lnTo>
                <a:lnTo>
                  <a:pt x="11658600" y="38100"/>
                </a:lnTo>
                <a:lnTo>
                  <a:pt x="11661775" y="34925"/>
                </a:lnTo>
                <a:close/>
              </a:path>
              <a:path w="11734800" h="76200">
                <a:moveTo>
                  <a:pt x="11731625" y="34925"/>
                </a:moveTo>
                <a:lnTo>
                  <a:pt x="11696700" y="34925"/>
                </a:lnTo>
                <a:lnTo>
                  <a:pt x="11696700" y="41275"/>
                </a:lnTo>
                <a:lnTo>
                  <a:pt x="11731625" y="41275"/>
                </a:lnTo>
                <a:lnTo>
                  <a:pt x="11734800" y="38100"/>
                </a:lnTo>
                <a:lnTo>
                  <a:pt x="11731625" y="34925"/>
                </a:lnTo>
                <a:close/>
              </a:path>
            </a:pathLst>
          </a:custGeom>
          <a:solidFill>
            <a:srgbClr val="03506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4698366" y="624481"/>
            <a:ext cx="74936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Introduction</a:t>
            </a:r>
            <a:endParaRPr spc="-1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B4E8F-B258-CB74-A72F-C2E101BBD392}"/>
              </a:ext>
            </a:extLst>
          </p:cNvPr>
          <p:cNvSpPr txBox="1"/>
          <p:nvPr/>
        </p:nvSpPr>
        <p:spPr>
          <a:xfrm>
            <a:off x="1371600" y="1809844"/>
            <a:ext cx="10287000" cy="100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39700" lvl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</a:pPr>
            <a:r>
              <a:rPr lang="en-US" dirty="0"/>
              <a:t>How would the use of renewable energy affect construction sites in terms of cost , energy usage and carbon emissions within the Middle Eastern and African regions?</a:t>
            </a:r>
          </a:p>
          <a:p>
            <a:endParaRPr lang="en-A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B7B9A51-6FA8-6C40-CC0B-A808E172E3A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2566" y="2794001"/>
            <a:ext cx="5048961" cy="3302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E7E782-2782-3604-C410-6682E9DC8C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2806226"/>
            <a:ext cx="4953000" cy="33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4C7C68-0959-DA8B-B197-34CF269CBC39}"/>
              </a:ext>
            </a:extLst>
          </p:cNvPr>
          <p:cNvSpPr txBox="1"/>
          <p:nvPr/>
        </p:nvSpPr>
        <p:spPr>
          <a:xfrm>
            <a:off x="5562600" y="4041727"/>
            <a:ext cx="1219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VS.</a:t>
            </a:r>
            <a:endParaRPr lang="en-A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0AC49A-AAA5-B014-8725-EC5A8A5F21EB}"/>
              </a:ext>
            </a:extLst>
          </p:cNvPr>
          <p:cNvSpPr txBox="1"/>
          <p:nvPr/>
        </p:nvSpPr>
        <p:spPr>
          <a:xfrm>
            <a:off x="4343400" y="1451224"/>
            <a:ext cx="944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Research</a:t>
            </a:r>
          </a:p>
          <a:p>
            <a:endParaRPr lang="en-AE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4C2D8-6D10-2786-292F-C9DD1F511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211B0B88-B7B4-010E-3204-601051160002}"/>
              </a:ext>
            </a:extLst>
          </p:cNvPr>
          <p:cNvSpPr/>
          <p:nvPr/>
        </p:nvSpPr>
        <p:spPr>
          <a:xfrm>
            <a:off x="0" y="1143000"/>
            <a:ext cx="12192000" cy="152400"/>
          </a:xfrm>
          <a:custGeom>
            <a:avLst/>
            <a:gdLst/>
            <a:ahLst/>
            <a:cxnLst/>
            <a:rect l="l" t="t" r="r" b="b"/>
            <a:pathLst>
              <a:path w="11734800" h="76200">
                <a:moveTo>
                  <a:pt x="38100" y="0"/>
                </a:moveTo>
                <a:lnTo>
                  <a:pt x="0" y="38100"/>
                </a:lnTo>
                <a:lnTo>
                  <a:pt x="38100" y="76200"/>
                </a:lnTo>
                <a:lnTo>
                  <a:pt x="73025" y="41275"/>
                </a:lnTo>
                <a:lnTo>
                  <a:pt x="38100" y="41275"/>
                </a:lnTo>
                <a:lnTo>
                  <a:pt x="38100" y="34925"/>
                </a:lnTo>
                <a:lnTo>
                  <a:pt x="73025" y="34925"/>
                </a:lnTo>
                <a:lnTo>
                  <a:pt x="38100" y="0"/>
                </a:lnTo>
                <a:close/>
              </a:path>
              <a:path w="11734800" h="76200">
                <a:moveTo>
                  <a:pt x="11696700" y="0"/>
                </a:moveTo>
                <a:lnTo>
                  <a:pt x="11658600" y="38100"/>
                </a:lnTo>
                <a:lnTo>
                  <a:pt x="11696700" y="76200"/>
                </a:lnTo>
                <a:lnTo>
                  <a:pt x="11731625" y="41275"/>
                </a:lnTo>
                <a:lnTo>
                  <a:pt x="11696700" y="41275"/>
                </a:lnTo>
                <a:lnTo>
                  <a:pt x="11696700" y="34925"/>
                </a:lnTo>
                <a:lnTo>
                  <a:pt x="11731625" y="34925"/>
                </a:lnTo>
                <a:lnTo>
                  <a:pt x="11696700" y="0"/>
                </a:lnTo>
                <a:close/>
              </a:path>
              <a:path w="11734800" h="76200">
                <a:moveTo>
                  <a:pt x="73025" y="34925"/>
                </a:moveTo>
                <a:lnTo>
                  <a:pt x="38100" y="34925"/>
                </a:lnTo>
                <a:lnTo>
                  <a:pt x="38100" y="41275"/>
                </a:lnTo>
                <a:lnTo>
                  <a:pt x="73025" y="41275"/>
                </a:lnTo>
                <a:lnTo>
                  <a:pt x="76200" y="38100"/>
                </a:lnTo>
                <a:lnTo>
                  <a:pt x="73025" y="34925"/>
                </a:lnTo>
                <a:close/>
              </a:path>
              <a:path w="11734800" h="76200">
                <a:moveTo>
                  <a:pt x="11661775" y="34925"/>
                </a:moveTo>
                <a:lnTo>
                  <a:pt x="73025" y="34925"/>
                </a:lnTo>
                <a:lnTo>
                  <a:pt x="76200" y="38100"/>
                </a:lnTo>
                <a:lnTo>
                  <a:pt x="73025" y="41275"/>
                </a:lnTo>
                <a:lnTo>
                  <a:pt x="11661775" y="41275"/>
                </a:lnTo>
                <a:lnTo>
                  <a:pt x="11658600" y="38100"/>
                </a:lnTo>
                <a:lnTo>
                  <a:pt x="11661775" y="34925"/>
                </a:lnTo>
                <a:close/>
              </a:path>
              <a:path w="11734800" h="76200">
                <a:moveTo>
                  <a:pt x="11731625" y="34925"/>
                </a:moveTo>
                <a:lnTo>
                  <a:pt x="11696700" y="34925"/>
                </a:lnTo>
                <a:lnTo>
                  <a:pt x="11696700" y="41275"/>
                </a:lnTo>
                <a:lnTo>
                  <a:pt x="11731625" y="41275"/>
                </a:lnTo>
                <a:lnTo>
                  <a:pt x="11734800" y="38100"/>
                </a:lnTo>
                <a:lnTo>
                  <a:pt x="11731625" y="34925"/>
                </a:lnTo>
                <a:close/>
              </a:path>
            </a:pathLst>
          </a:custGeom>
          <a:solidFill>
            <a:srgbClr val="03506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7F0FF15A-2DB3-A32E-9E41-C0EAAEE150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8366" y="624481"/>
            <a:ext cx="74936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The Problem</a:t>
            </a:r>
            <a:endParaRPr spc="-1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E7CF2A8-7892-2687-7AA4-F52243D7B13F}"/>
              </a:ext>
            </a:extLst>
          </p:cNvPr>
          <p:cNvSpPr txBox="1"/>
          <p:nvPr/>
        </p:nvSpPr>
        <p:spPr>
          <a:xfrm>
            <a:off x="2781300" y="1515159"/>
            <a:ext cx="944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Construction runs on diesel, Construction is costly &amp; unsustainable</a:t>
            </a:r>
          </a:p>
          <a:p>
            <a:endParaRPr lang="en-A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216BD7-B7A8-9544-BD4B-45FFB66112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9206" y="4571999"/>
            <a:ext cx="2722793" cy="1535251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7A65A21-D53D-5C94-5C06-B2CE4A10CF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612354"/>
              </p:ext>
            </p:extLst>
          </p:nvPr>
        </p:nvGraphicFramePr>
        <p:xfrm>
          <a:off x="3276600" y="1981200"/>
          <a:ext cx="4953000" cy="352683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108758472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4288331568"/>
                    </a:ext>
                  </a:extLst>
                </a:gridCol>
              </a:tblGrid>
              <a:tr h="525274">
                <a:tc>
                  <a:txBody>
                    <a:bodyPr/>
                    <a:lstStyle/>
                    <a:p>
                      <a:r>
                        <a:rPr lang="en-US" sz="1400" b="1" dirty="0"/>
                        <a:t>High diesel dependency</a:t>
                      </a:r>
                      <a:r>
                        <a:rPr lang="en-US" sz="1400" dirty="0"/>
                        <a:t> </a:t>
                      </a:r>
                      <a:endParaRPr lang="en-A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Most sites in MEA still rely on diesel generators</a:t>
                      </a:r>
                      <a:endParaRPr lang="en-A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846543"/>
                  </a:ext>
                </a:extLst>
              </a:tr>
              <a:tr h="750391">
                <a:tc>
                  <a:txBody>
                    <a:bodyPr/>
                    <a:lstStyle/>
                    <a:p>
                      <a:r>
                        <a:rPr lang="en-US" sz="1400" b="1" dirty="0"/>
                        <a:t>Rising operating costs</a:t>
                      </a:r>
                      <a:r>
                        <a:rPr lang="en-US" sz="1400" dirty="0"/>
                        <a:t> </a:t>
                      </a:r>
                      <a:endParaRPr lang="en-A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Frequent fuel deliveries, expensive maintenance, and fuel price volatility.</a:t>
                      </a:r>
                      <a:endParaRPr lang="en-A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32682"/>
                  </a:ext>
                </a:extLst>
              </a:tr>
              <a:tr h="750391">
                <a:tc>
                  <a:txBody>
                    <a:bodyPr/>
                    <a:lstStyle/>
                    <a:p>
                      <a:r>
                        <a:rPr lang="en-US" sz="1400" b="1" dirty="0"/>
                        <a:t>Environmental impact</a:t>
                      </a:r>
                      <a:r>
                        <a:rPr lang="en-US" sz="1400" dirty="0"/>
                        <a:t> </a:t>
                      </a:r>
                      <a:endParaRPr lang="en-A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Diesel use leads to significant CO₂ emissions and noise pollution</a:t>
                      </a:r>
                      <a:endParaRPr lang="en-A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763824"/>
                  </a:ext>
                </a:extLst>
              </a:tr>
              <a:tr h="750391">
                <a:tc>
                  <a:txBody>
                    <a:bodyPr/>
                    <a:lstStyle/>
                    <a:p>
                      <a:r>
                        <a:rPr lang="en-US" sz="1400" b="1" dirty="0"/>
                        <a:t>Reliability issues</a:t>
                      </a:r>
                      <a:r>
                        <a:rPr lang="en-US" sz="1400" dirty="0"/>
                        <a:t> </a:t>
                      </a:r>
                      <a:endParaRPr lang="en-A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Generators often break down, causing project delays and inefficiencies</a:t>
                      </a:r>
                      <a:endParaRPr lang="en-A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6634114"/>
                  </a:ext>
                </a:extLst>
              </a:tr>
              <a:tr h="750391">
                <a:tc>
                  <a:txBody>
                    <a:bodyPr/>
                    <a:lstStyle/>
                    <a:p>
                      <a:r>
                        <a:rPr lang="en-US" sz="1400" b="1" dirty="0"/>
                        <a:t>Growing pressure</a:t>
                      </a:r>
                      <a:r>
                        <a:rPr lang="en-US" sz="1400" dirty="0"/>
                        <a:t> </a:t>
                      </a:r>
                      <a:endParaRPr lang="en-A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Contractors face new client demands and policy pushes for sustainability</a:t>
                      </a:r>
                      <a:endParaRPr lang="en-A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7715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3597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92D4A-7CFE-A7DA-1202-4E5BFFFCC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1C1D919E-3B7A-463F-3F07-01AB0CF61CE9}"/>
              </a:ext>
            </a:extLst>
          </p:cNvPr>
          <p:cNvSpPr/>
          <p:nvPr/>
        </p:nvSpPr>
        <p:spPr>
          <a:xfrm>
            <a:off x="0" y="1143000"/>
            <a:ext cx="12192000" cy="152400"/>
          </a:xfrm>
          <a:custGeom>
            <a:avLst/>
            <a:gdLst/>
            <a:ahLst/>
            <a:cxnLst/>
            <a:rect l="l" t="t" r="r" b="b"/>
            <a:pathLst>
              <a:path w="11734800" h="76200">
                <a:moveTo>
                  <a:pt x="38100" y="0"/>
                </a:moveTo>
                <a:lnTo>
                  <a:pt x="0" y="38100"/>
                </a:lnTo>
                <a:lnTo>
                  <a:pt x="38100" y="76200"/>
                </a:lnTo>
                <a:lnTo>
                  <a:pt x="73025" y="41275"/>
                </a:lnTo>
                <a:lnTo>
                  <a:pt x="38100" y="41275"/>
                </a:lnTo>
                <a:lnTo>
                  <a:pt x="38100" y="34925"/>
                </a:lnTo>
                <a:lnTo>
                  <a:pt x="73025" y="34925"/>
                </a:lnTo>
                <a:lnTo>
                  <a:pt x="38100" y="0"/>
                </a:lnTo>
                <a:close/>
              </a:path>
              <a:path w="11734800" h="76200">
                <a:moveTo>
                  <a:pt x="11696700" y="0"/>
                </a:moveTo>
                <a:lnTo>
                  <a:pt x="11658600" y="38100"/>
                </a:lnTo>
                <a:lnTo>
                  <a:pt x="11696700" y="76200"/>
                </a:lnTo>
                <a:lnTo>
                  <a:pt x="11731625" y="41275"/>
                </a:lnTo>
                <a:lnTo>
                  <a:pt x="11696700" y="41275"/>
                </a:lnTo>
                <a:lnTo>
                  <a:pt x="11696700" y="34925"/>
                </a:lnTo>
                <a:lnTo>
                  <a:pt x="11731625" y="34925"/>
                </a:lnTo>
                <a:lnTo>
                  <a:pt x="11696700" y="0"/>
                </a:lnTo>
                <a:close/>
              </a:path>
              <a:path w="11734800" h="76200">
                <a:moveTo>
                  <a:pt x="73025" y="34925"/>
                </a:moveTo>
                <a:lnTo>
                  <a:pt x="38100" y="34925"/>
                </a:lnTo>
                <a:lnTo>
                  <a:pt x="38100" y="41275"/>
                </a:lnTo>
                <a:lnTo>
                  <a:pt x="73025" y="41275"/>
                </a:lnTo>
                <a:lnTo>
                  <a:pt x="76200" y="38100"/>
                </a:lnTo>
                <a:lnTo>
                  <a:pt x="73025" y="34925"/>
                </a:lnTo>
                <a:close/>
              </a:path>
              <a:path w="11734800" h="76200">
                <a:moveTo>
                  <a:pt x="11661775" y="34925"/>
                </a:moveTo>
                <a:lnTo>
                  <a:pt x="73025" y="34925"/>
                </a:lnTo>
                <a:lnTo>
                  <a:pt x="76200" y="38100"/>
                </a:lnTo>
                <a:lnTo>
                  <a:pt x="73025" y="41275"/>
                </a:lnTo>
                <a:lnTo>
                  <a:pt x="11661775" y="41275"/>
                </a:lnTo>
                <a:lnTo>
                  <a:pt x="11658600" y="38100"/>
                </a:lnTo>
                <a:lnTo>
                  <a:pt x="11661775" y="34925"/>
                </a:lnTo>
                <a:close/>
              </a:path>
              <a:path w="11734800" h="76200">
                <a:moveTo>
                  <a:pt x="11731625" y="34925"/>
                </a:moveTo>
                <a:lnTo>
                  <a:pt x="11696700" y="34925"/>
                </a:lnTo>
                <a:lnTo>
                  <a:pt x="11696700" y="41275"/>
                </a:lnTo>
                <a:lnTo>
                  <a:pt x="11731625" y="41275"/>
                </a:lnTo>
                <a:lnTo>
                  <a:pt x="11734800" y="38100"/>
                </a:lnTo>
                <a:lnTo>
                  <a:pt x="11731625" y="34925"/>
                </a:lnTo>
                <a:close/>
              </a:path>
            </a:pathLst>
          </a:custGeom>
          <a:solidFill>
            <a:srgbClr val="03506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FE592161-9990-E1A7-0648-C773A4075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8366" y="624481"/>
            <a:ext cx="74936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Our Approach</a:t>
            </a:r>
            <a:endParaRPr spc="-1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FAF0F6-04B8-833F-72BA-25DFC89CD715}"/>
              </a:ext>
            </a:extLst>
          </p:cNvPr>
          <p:cNvSpPr txBox="1"/>
          <p:nvPr/>
        </p:nvSpPr>
        <p:spPr>
          <a:xfrm>
            <a:off x="4572000" y="1484792"/>
            <a:ext cx="944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From data to decisions</a:t>
            </a:r>
          </a:p>
          <a:p>
            <a:endParaRPr lang="en-A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65D140-7B59-7E62-9987-56BCFF6BFCFB}"/>
              </a:ext>
            </a:extLst>
          </p:cNvPr>
          <p:cNvSpPr txBox="1"/>
          <p:nvPr/>
        </p:nvSpPr>
        <p:spPr>
          <a:xfrm>
            <a:off x="5829300" y="2956637"/>
            <a:ext cx="944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A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FE23B9-CC4F-527F-6BCE-CAB114E3C505}"/>
              </a:ext>
            </a:extLst>
          </p:cNvPr>
          <p:cNvSpPr/>
          <p:nvPr/>
        </p:nvSpPr>
        <p:spPr>
          <a:xfrm>
            <a:off x="876300" y="2120994"/>
            <a:ext cx="4624388" cy="1201738"/>
          </a:xfrm>
          <a:prstGeom prst="rect">
            <a:avLst/>
          </a:prstGeom>
          <a:solidFill>
            <a:srgbClr val="4A4E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08000" tIns="108000" rIns="108000" bIns="10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b="1" dirty="0">
                <a:solidFill>
                  <a:schemeClr val="bg1"/>
                </a:solidFill>
                <a:latin typeface="+mn-lt"/>
                <a:cs typeface="Janna LT" pitchFamily="2" charset="-78"/>
              </a:rPr>
              <a:t>Data Collection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B99CD8-835E-A808-4125-1457EBC67637}"/>
              </a:ext>
            </a:extLst>
          </p:cNvPr>
          <p:cNvSpPr/>
          <p:nvPr/>
        </p:nvSpPr>
        <p:spPr>
          <a:xfrm>
            <a:off x="6689724" y="2146651"/>
            <a:ext cx="4624388" cy="1201738"/>
          </a:xfrm>
          <a:prstGeom prst="rect">
            <a:avLst/>
          </a:prstGeom>
          <a:solidFill>
            <a:srgbClr val="ECE6E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08000" tIns="108000" rIns="108000" bIns="108000"/>
          <a:lstStyle/>
          <a:p>
            <a:pPr lvl="0" indent="-171450" algn="just"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100" b="1" dirty="0">
                <a:solidFill>
                  <a:srgbClr val="00232E"/>
                </a:solidFill>
                <a:latin typeface="Arial" panose="020B0604020202020204" pitchFamily="34" charset="0"/>
                <a:cs typeface="Arial" panose="020B0604020202020204" pitchFamily="34" charset="0"/>
                <a:sym typeface="Poppins"/>
              </a:rPr>
              <a:t>Data was collected via Google Forms</a:t>
            </a:r>
            <a:endParaRPr lang="en-US" sz="1100" b="1" dirty="0">
              <a:solidFill>
                <a:srgbClr val="0023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indent="-171450" algn="just"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100" b="1" dirty="0">
                <a:solidFill>
                  <a:srgbClr val="00232E"/>
                </a:solidFill>
                <a:latin typeface="Arial" panose="020B0604020202020204" pitchFamily="34" charset="0"/>
                <a:cs typeface="Arial" panose="020B0604020202020204" pitchFamily="34" charset="0"/>
                <a:sym typeface="Poppins"/>
              </a:rPr>
              <a:t>20+ results (Greater than expected as compared to other researches</a:t>
            </a:r>
          </a:p>
          <a:p>
            <a:pPr indent="-171450" algn="just"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100" b="1" dirty="0">
                <a:solidFill>
                  <a:srgbClr val="0023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Datasets: IRENA renewable energy stats + UN Comtrade imports</a:t>
            </a:r>
          </a:p>
          <a:p>
            <a:pPr lvl="0">
              <a:buClr>
                <a:srgbClr val="000000"/>
              </a:buClr>
              <a:buSzPts val="1000"/>
            </a:pPr>
            <a:endParaRPr lang="en-US" sz="11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02C3E06-C5EF-C3BB-712A-94AB487C6053}"/>
              </a:ext>
            </a:extLst>
          </p:cNvPr>
          <p:cNvSpPr/>
          <p:nvPr/>
        </p:nvSpPr>
        <p:spPr>
          <a:xfrm>
            <a:off x="919061" y="4184226"/>
            <a:ext cx="4595812" cy="671075"/>
          </a:xfrm>
          <a:prstGeom prst="rect">
            <a:avLst/>
          </a:prstGeom>
          <a:solidFill>
            <a:srgbClr val="4A4E66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08000" tIns="108000" rIns="108000" bIns="10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100" b="1" dirty="0">
                <a:solidFill>
                  <a:schemeClr val="bg1"/>
                </a:solidFill>
                <a:latin typeface="+mn-lt"/>
                <a:cs typeface="Janna LT" pitchFamily="2" charset="-78"/>
              </a:rPr>
              <a:t>Data Analysis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41E36F4-F533-2521-C94B-7E78EE5284EE}"/>
              </a:ext>
            </a:extLst>
          </p:cNvPr>
          <p:cNvSpPr/>
          <p:nvPr/>
        </p:nvSpPr>
        <p:spPr>
          <a:xfrm>
            <a:off x="6680200" y="4139086"/>
            <a:ext cx="4624388" cy="741161"/>
          </a:xfrm>
          <a:prstGeom prst="rect">
            <a:avLst/>
          </a:prstGeom>
          <a:solidFill>
            <a:srgbClr val="ECE6E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108000" tIns="108000" rIns="108000" bIns="108000"/>
          <a:lstStyle/>
          <a:p>
            <a:pPr lvl="0" indent="-171450"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100" b="1" dirty="0">
                <a:solidFill>
                  <a:srgbClr val="0023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Exploratory Data Analysis</a:t>
            </a:r>
            <a:endParaRPr lang="en-US" sz="1100" dirty="0"/>
          </a:p>
          <a:p>
            <a:pPr lvl="0" indent="-171450">
              <a:buClr>
                <a:srgbClr val="000000"/>
              </a:buClr>
              <a:buSzPts val="1000"/>
              <a:buFont typeface="Arial"/>
              <a:buChar char="•"/>
            </a:pPr>
            <a:r>
              <a:rPr lang="en-US" sz="1100" b="1" dirty="0">
                <a:solidFill>
                  <a:srgbClr val="0023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 simulation comparing diesel vs. hybrid (diesel + solar)</a:t>
            </a:r>
            <a:endParaRPr lang="en-AE" sz="1100" b="1" dirty="0">
              <a:solidFill>
                <a:srgbClr val="0023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100" b="1" dirty="0">
              <a:solidFill>
                <a:srgbClr val="00232E"/>
              </a:solidFill>
              <a:latin typeface="+mn-lt"/>
              <a:cs typeface="Janna LT" pitchFamily="2" charset="-78"/>
            </a:endParaRPr>
          </a:p>
          <a:p>
            <a:pPr marL="171450" indent="-171450" eaLnBrk="1" fontAlgn="auto" hangingPunct="1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endParaRPr lang="en-US" sz="1100" b="1" dirty="0">
              <a:solidFill>
                <a:srgbClr val="00232E"/>
              </a:solidFill>
              <a:latin typeface="+mn-lt"/>
              <a:cs typeface="Janna LT" pitchFamily="2" charset="-78"/>
            </a:endParaRPr>
          </a:p>
          <a:p>
            <a:pPr marL="171450" indent="-171450" eaLnBrk="1" fontAlgn="auto" hangingPunct="1"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endParaRPr lang="en-US" sz="1100" b="1" dirty="0">
              <a:solidFill>
                <a:srgbClr val="00232E"/>
              </a:solidFill>
              <a:latin typeface="+mn-lt"/>
              <a:cs typeface="Janna LT" pitchFamily="2" charset="-78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100" b="1" dirty="0">
              <a:solidFill>
                <a:srgbClr val="00232E"/>
              </a:solidFill>
              <a:latin typeface="+mn-lt"/>
              <a:cs typeface="Janna LT" pitchFamily="2" charset="-78"/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6816FC69-4B1F-2698-B35B-35117DF00D80}"/>
              </a:ext>
            </a:extLst>
          </p:cNvPr>
          <p:cNvSpPr/>
          <p:nvPr/>
        </p:nvSpPr>
        <p:spPr>
          <a:xfrm>
            <a:off x="5484813" y="2268235"/>
            <a:ext cx="1201737" cy="849313"/>
          </a:xfrm>
          <a:prstGeom prst="rightArrow">
            <a:avLst/>
          </a:prstGeom>
          <a:gradFill flip="none" rotWithShape="1">
            <a:gsLst>
              <a:gs pos="0">
                <a:srgbClr val="00232E"/>
              </a:gs>
              <a:gs pos="50000">
                <a:srgbClr val="00465C">
                  <a:tint val="44500"/>
                  <a:satMod val="160000"/>
                </a:srgbClr>
              </a:gs>
              <a:gs pos="100000">
                <a:srgbClr val="00465C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8" name="Arrow: Right 35">
            <a:extLst>
              <a:ext uri="{FF2B5EF4-FFF2-40B4-BE49-F238E27FC236}">
                <a16:creationId xmlns:a16="http://schemas.microsoft.com/office/drawing/2014/main" id="{B4E1D2DC-8740-9014-D749-B2E49C84BDC4}"/>
              </a:ext>
            </a:extLst>
          </p:cNvPr>
          <p:cNvSpPr/>
          <p:nvPr/>
        </p:nvSpPr>
        <p:spPr>
          <a:xfrm>
            <a:off x="5492750" y="4085011"/>
            <a:ext cx="1193800" cy="849313"/>
          </a:xfrm>
          <a:prstGeom prst="rightArrow">
            <a:avLst/>
          </a:prstGeom>
          <a:gradFill flip="none" rotWithShape="1">
            <a:gsLst>
              <a:gs pos="0">
                <a:srgbClr val="00232E"/>
              </a:gs>
              <a:gs pos="50000">
                <a:srgbClr val="00465C">
                  <a:tint val="44500"/>
                  <a:satMod val="160000"/>
                </a:srgbClr>
              </a:gs>
              <a:gs pos="100000">
                <a:srgbClr val="00465C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107579B-ECD9-7DD9-65C7-F356B6BB65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0561" y="3328728"/>
            <a:ext cx="1678091" cy="62788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A003109-EB77-6B35-34B4-92CDB96690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931" y="3363917"/>
            <a:ext cx="1245181" cy="607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669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2E019A-4388-0AE2-B7D4-E83EC08EA633}"/>
              </a:ext>
            </a:extLst>
          </p:cNvPr>
          <p:cNvSpPr/>
          <p:nvPr/>
        </p:nvSpPr>
        <p:spPr>
          <a:xfrm>
            <a:off x="447675" y="1352550"/>
            <a:ext cx="11282363" cy="48847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anchor="ctr"/>
          <a:lstStyle/>
          <a:p>
            <a:pPr algn="ctr" defTabSz="4572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450" kern="0">
              <a:solidFill>
                <a:srgbClr val="FFB8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A09CE91-4607-D101-D721-4E559B9AB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27" y="1066800"/>
            <a:ext cx="11349038" cy="43249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EC414-521F-E0A3-E852-EE8E32581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DEF5D25F-2DF0-281A-94B5-AFC3221C0FD2}"/>
              </a:ext>
            </a:extLst>
          </p:cNvPr>
          <p:cNvSpPr/>
          <p:nvPr/>
        </p:nvSpPr>
        <p:spPr>
          <a:xfrm>
            <a:off x="0" y="1143000"/>
            <a:ext cx="12192000" cy="152400"/>
          </a:xfrm>
          <a:custGeom>
            <a:avLst/>
            <a:gdLst/>
            <a:ahLst/>
            <a:cxnLst/>
            <a:rect l="l" t="t" r="r" b="b"/>
            <a:pathLst>
              <a:path w="11734800" h="76200">
                <a:moveTo>
                  <a:pt x="38100" y="0"/>
                </a:moveTo>
                <a:lnTo>
                  <a:pt x="0" y="38100"/>
                </a:lnTo>
                <a:lnTo>
                  <a:pt x="38100" y="76200"/>
                </a:lnTo>
                <a:lnTo>
                  <a:pt x="73025" y="41275"/>
                </a:lnTo>
                <a:lnTo>
                  <a:pt x="38100" y="41275"/>
                </a:lnTo>
                <a:lnTo>
                  <a:pt x="38100" y="34925"/>
                </a:lnTo>
                <a:lnTo>
                  <a:pt x="73025" y="34925"/>
                </a:lnTo>
                <a:lnTo>
                  <a:pt x="38100" y="0"/>
                </a:lnTo>
                <a:close/>
              </a:path>
              <a:path w="11734800" h="76200">
                <a:moveTo>
                  <a:pt x="11696700" y="0"/>
                </a:moveTo>
                <a:lnTo>
                  <a:pt x="11658600" y="38100"/>
                </a:lnTo>
                <a:lnTo>
                  <a:pt x="11696700" y="76200"/>
                </a:lnTo>
                <a:lnTo>
                  <a:pt x="11731625" y="41275"/>
                </a:lnTo>
                <a:lnTo>
                  <a:pt x="11696700" y="41275"/>
                </a:lnTo>
                <a:lnTo>
                  <a:pt x="11696700" y="34925"/>
                </a:lnTo>
                <a:lnTo>
                  <a:pt x="11731625" y="34925"/>
                </a:lnTo>
                <a:lnTo>
                  <a:pt x="11696700" y="0"/>
                </a:lnTo>
                <a:close/>
              </a:path>
              <a:path w="11734800" h="76200">
                <a:moveTo>
                  <a:pt x="73025" y="34925"/>
                </a:moveTo>
                <a:lnTo>
                  <a:pt x="38100" y="34925"/>
                </a:lnTo>
                <a:lnTo>
                  <a:pt x="38100" y="41275"/>
                </a:lnTo>
                <a:lnTo>
                  <a:pt x="73025" y="41275"/>
                </a:lnTo>
                <a:lnTo>
                  <a:pt x="76200" y="38100"/>
                </a:lnTo>
                <a:lnTo>
                  <a:pt x="73025" y="34925"/>
                </a:lnTo>
                <a:close/>
              </a:path>
              <a:path w="11734800" h="76200">
                <a:moveTo>
                  <a:pt x="11661775" y="34925"/>
                </a:moveTo>
                <a:lnTo>
                  <a:pt x="73025" y="34925"/>
                </a:lnTo>
                <a:lnTo>
                  <a:pt x="76200" y="38100"/>
                </a:lnTo>
                <a:lnTo>
                  <a:pt x="73025" y="41275"/>
                </a:lnTo>
                <a:lnTo>
                  <a:pt x="11661775" y="41275"/>
                </a:lnTo>
                <a:lnTo>
                  <a:pt x="11658600" y="38100"/>
                </a:lnTo>
                <a:lnTo>
                  <a:pt x="11661775" y="34925"/>
                </a:lnTo>
                <a:close/>
              </a:path>
              <a:path w="11734800" h="76200">
                <a:moveTo>
                  <a:pt x="11731625" y="34925"/>
                </a:moveTo>
                <a:lnTo>
                  <a:pt x="11696700" y="34925"/>
                </a:lnTo>
                <a:lnTo>
                  <a:pt x="11696700" y="41275"/>
                </a:lnTo>
                <a:lnTo>
                  <a:pt x="11731625" y="41275"/>
                </a:lnTo>
                <a:lnTo>
                  <a:pt x="11734800" y="38100"/>
                </a:lnTo>
                <a:lnTo>
                  <a:pt x="11731625" y="34925"/>
                </a:lnTo>
                <a:close/>
              </a:path>
            </a:pathLst>
          </a:custGeom>
          <a:solidFill>
            <a:srgbClr val="03506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495ACE05-E57D-B294-D0BB-8E852AFD14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98366" y="624481"/>
            <a:ext cx="74936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10" dirty="0"/>
              <a:t>Key Findings</a:t>
            </a:r>
            <a:endParaRPr spc="-1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86D7B-EFC0-B95C-619A-C5F663788475}"/>
              </a:ext>
            </a:extLst>
          </p:cNvPr>
          <p:cNvSpPr txBox="1"/>
          <p:nvPr/>
        </p:nvSpPr>
        <p:spPr>
          <a:xfrm>
            <a:off x="7010400" y="2590800"/>
            <a:ext cx="5791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Why go Hybrid?</a:t>
            </a:r>
          </a:p>
          <a:p>
            <a:r>
              <a:rPr lang="en-US" dirty="0"/>
              <a:t>- Hybrids save money &amp; cut emissions</a:t>
            </a:r>
          </a:p>
          <a:p>
            <a:r>
              <a:rPr lang="en-US" dirty="0"/>
              <a:t>- 25–35% less diesel consumption</a:t>
            </a:r>
          </a:p>
          <a:p>
            <a:r>
              <a:rPr lang="en-US" dirty="0"/>
              <a:t>- USD 10k–15k per medium site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F0035-3C19-2C3D-7071-1DBE221639FE}"/>
              </a:ext>
            </a:extLst>
          </p:cNvPr>
          <p:cNvSpPr txBox="1"/>
          <p:nvPr/>
        </p:nvSpPr>
        <p:spPr>
          <a:xfrm>
            <a:off x="1116966" y="2450504"/>
            <a:ext cx="3581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Observations</a:t>
            </a:r>
          </a:p>
          <a:p>
            <a:r>
              <a:rPr lang="en-US" dirty="0"/>
              <a:t>-  Nearly 80%+ of surveyed sites rely on diesel generators</a:t>
            </a:r>
          </a:p>
          <a:p>
            <a:r>
              <a:rPr lang="en-US" dirty="0"/>
              <a:t>- 8–12 hours runtime daily</a:t>
            </a:r>
          </a:p>
          <a:p>
            <a:r>
              <a:rPr lang="en-US" dirty="0"/>
              <a:t>- USD 200–400/month per generator in maintenance</a:t>
            </a:r>
          </a:p>
          <a:p>
            <a:endParaRPr lang="en-AE" dirty="0"/>
          </a:p>
          <a:p>
            <a:endParaRPr lang="en-A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070A85-C9FA-FC0D-2C76-076662CB9A86}"/>
              </a:ext>
            </a:extLst>
          </p:cNvPr>
          <p:cNvSpPr txBox="1"/>
          <p:nvPr/>
        </p:nvSpPr>
        <p:spPr>
          <a:xfrm>
            <a:off x="3657600" y="1452842"/>
            <a:ext cx="944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Surprise! Cost is the Main Driver</a:t>
            </a:r>
            <a:endParaRPr lang="en-A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A08E24-0D95-85A5-1F78-ACD7ACFFFEBB}"/>
              </a:ext>
            </a:extLst>
          </p:cNvPr>
          <p:cNvCxnSpPr/>
          <p:nvPr/>
        </p:nvCxnSpPr>
        <p:spPr>
          <a:xfrm>
            <a:off x="5638800" y="1939428"/>
            <a:ext cx="0" cy="28194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470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8"/>
          <p:cNvSpPr/>
          <p:nvPr/>
        </p:nvSpPr>
        <p:spPr>
          <a:xfrm>
            <a:off x="5124207" y="3551133"/>
            <a:ext cx="852800" cy="852800"/>
          </a:xfrm>
          <a:prstGeom prst="ellipse">
            <a:avLst/>
          </a:prstGeom>
          <a:solidFill>
            <a:srgbClr val="FF83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350" name="Google Shape;350;p38"/>
          <p:cNvSpPr txBox="1"/>
          <p:nvPr/>
        </p:nvSpPr>
        <p:spPr>
          <a:xfrm>
            <a:off x="721600" y="1953667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r">
              <a:spcAft>
                <a:spcPts val="1600"/>
              </a:spcAft>
            </a:pPr>
            <a:r>
              <a:rPr lang="en-US" sz="2133" b="1" dirty="0">
                <a:solidFill>
                  <a:srgbClr val="A41F31"/>
                </a:solidFill>
                <a:latin typeface="Poppins"/>
                <a:cs typeface="Poppins"/>
              </a:rPr>
              <a:t>Diesel alone is no longer enough</a:t>
            </a:r>
          </a:p>
        </p:txBody>
      </p:sp>
      <p:grpSp>
        <p:nvGrpSpPr>
          <p:cNvPr id="351" name="Google Shape;351;p38"/>
          <p:cNvGrpSpPr/>
          <p:nvPr/>
        </p:nvGrpSpPr>
        <p:grpSpPr>
          <a:xfrm>
            <a:off x="5316587" y="3760565"/>
            <a:ext cx="468032" cy="433952"/>
            <a:chOff x="6543825" y="3202075"/>
            <a:chExt cx="296975" cy="275350"/>
          </a:xfrm>
        </p:grpSpPr>
        <p:sp>
          <p:nvSpPr>
            <p:cNvPr id="352" name="Google Shape;352;p38"/>
            <p:cNvSpPr/>
            <p:nvPr/>
          </p:nvSpPr>
          <p:spPr>
            <a:xfrm>
              <a:off x="6683250" y="3202075"/>
              <a:ext cx="17350" cy="43350"/>
            </a:xfrm>
            <a:custGeom>
              <a:avLst/>
              <a:gdLst/>
              <a:ahLst/>
              <a:cxnLst/>
              <a:rect l="l" t="t" r="r" b="b"/>
              <a:pathLst>
                <a:path w="694" h="173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355"/>
                  </a:lnTo>
                  <a:cubicBezTo>
                    <a:pt x="0" y="1576"/>
                    <a:pt x="158" y="1733"/>
                    <a:pt x="347" y="1733"/>
                  </a:cubicBezTo>
                  <a:cubicBezTo>
                    <a:pt x="536" y="1733"/>
                    <a:pt x="693" y="1576"/>
                    <a:pt x="693" y="1355"/>
                  </a:cubicBez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3" name="Google Shape;353;p38"/>
            <p:cNvSpPr/>
            <p:nvPr/>
          </p:nvSpPr>
          <p:spPr>
            <a:xfrm>
              <a:off x="6613925" y="3236125"/>
              <a:ext cx="35475" cy="34700"/>
            </a:xfrm>
            <a:custGeom>
              <a:avLst/>
              <a:gdLst/>
              <a:ahLst/>
              <a:cxnLst/>
              <a:rect l="l" t="t" r="r" b="b"/>
              <a:pathLst>
                <a:path w="1419" h="1388" extrusionOk="0">
                  <a:moveTo>
                    <a:pt x="363" y="1"/>
                  </a:moveTo>
                  <a:cubicBezTo>
                    <a:pt x="276" y="1"/>
                    <a:pt x="190" y="40"/>
                    <a:pt x="127" y="119"/>
                  </a:cubicBezTo>
                  <a:cubicBezTo>
                    <a:pt x="1" y="245"/>
                    <a:pt x="1" y="466"/>
                    <a:pt x="127" y="592"/>
                  </a:cubicBezTo>
                  <a:lnTo>
                    <a:pt x="820" y="1316"/>
                  </a:lnTo>
                  <a:cubicBezTo>
                    <a:pt x="883" y="1364"/>
                    <a:pt x="969" y="1387"/>
                    <a:pt x="1056" y="1387"/>
                  </a:cubicBezTo>
                  <a:cubicBezTo>
                    <a:pt x="1143" y="1387"/>
                    <a:pt x="1229" y="1364"/>
                    <a:pt x="1292" y="1316"/>
                  </a:cubicBezTo>
                  <a:cubicBezTo>
                    <a:pt x="1418" y="1190"/>
                    <a:pt x="1418" y="938"/>
                    <a:pt x="1292" y="844"/>
                  </a:cubicBezTo>
                  <a:lnTo>
                    <a:pt x="599" y="119"/>
                  </a:lnTo>
                  <a:cubicBezTo>
                    <a:pt x="536" y="40"/>
                    <a:pt x="450" y="1"/>
                    <a:pt x="36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4" name="Google Shape;354;p38"/>
            <p:cNvSpPr/>
            <p:nvPr/>
          </p:nvSpPr>
          <p:spPr>
            <a:xfrm>
              <a:off x="6734425" y="3236425"/>
              <a:ext cx="35475" cy="34400"/>
            </a:xfrm>
            <a:custGeom>
              <a:avLst/>
              <a:gdLst/>
              <a:ahLst/>
              <a:cxnLst/>
              <a:rect l="l" t="t" r="r" b="b"/>
              <a:pathLst>
                <a:path w="1419" h="1376" extrusionOk="0">
                  <a:moveTo>
                    <a:pt x="1054" y="0"/>
                  </a:moveTo>
                  <a:cubicBezTo>
                    <a:pt x="976" y="0"/>
                    <a:pt x="894" y="33"/>
                    <a:pt x="820" y="107"/>
                  </a:cubicBezTo>
                  <a:lnTo>
                    <a:pt x="95" y="832"/>
                  </a:lnTo>
                  <a:cubicBezTo>
                    <a:pt x="1" y="926"/>
                    <a:pt x="1" y="1178"/>
                    <a:pt x="95" y="1304"/>
                  </a:cubicBezTo>
                  <a:cubicBezTo>
                    <a:pt x="158" y="1352"/>
                    <a:pt x="253" y="1375"/>
                    <a:pt x="344" y="1375"/>
                  </a:cubicBezTo>
                  <a:cubicBezTo>
                    <a:pt x="434" y="1375"/>
                    <a:pt x="521" y="1352"/>
                    <a:pt x="568" y="1304"/>
                  </a:cubicBezTo>
                  <a:lnTo>
                    <a:pt x="1293" y="580"/>
                  </a:lnTo>
                  <a:cubicBezTo>
                    <a:pt x="1419" y="454"/>
                    <a:pt x="1419" y="233"/>
                    <a:pt x="1293" y="107"/>
                  </a:cubicBezTo>
                  <a:cubicBezTo>
                    <a:pt x="1226" y="41"/>
                    <a:pt x="1142" y="0"/>
                    <a:pt x="105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5" name="Google Shape;355;p38"/>
            <p:cNvSpPr/>
            <p:nvPr/>
          </p:nvSpPr>
          <p:spPr>
            <a:xfrm>
              <a:off x="6805325" y="3322575"/>
              <a:ext cx="35475" cy="121325"/>
            </a:xfrm>
            <a:custGeom>
              <a:avLst/>
              <a:gdLst/>
              <a:ahLst/>
              <a:cxnLst/>
              <a:rect l="l" t="t" r="r" b="b"/>
              <a:pathLst>
                <a:path w="1419" h="4853" extrusionOk="0">
                  <a:moveTo>
                    <a:pt x="0" y="1"/>
                  </a:moveTo>
                  <a:lnTo>
                    <a:pt x="0" y="4852"/>
                  </a:lnTo>
                  <a:lnTo>
                    <a:pt x="1040" y="4852"/>
                  </a:lnTo>
                  <a:cubicBezTo>
                    <a:pt x="1261" y="4852"/>
                    <a:pt x="1418" y="4695"/>
                    <a:pt x="1418" y="4506"/>
                  </a:cubicBezTo>
                  <a:lnTo>
                    <a:pt x="1418" y="316"/>
                  </a:lnTo>
                  <a:cubicBezTo>
                    <a:pt x="1355" y="158"/>
                    <a:pt x="1198" y="1"/>
                    <a:pt x="104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6" name="Google Shape;356;p38"/>
            <p:cNvSpPr/>
            <p:nvPr/>
          </p:nvSpPr>
          <p:spPr>
            <a:xfrm>
              <a:off x="6543825" y="3323275"/>
              <a:ext cx="35475" cy="121400"/>
            </a:xfrm>
            <a:custGeom>
              <a:avLst/>
              <a:gdLst/>
              <a:ahLst/>
              <a:cxnLst/>
              <a:rect l="l" t="t" r="r" b="b"/>
              <a:pathLst>
                <a:path w="1419" h="4856" extrusionOk="0">
                  <a:moveTo>
                    <a:pt x="323" y="0"/>
                  </a:moveTo>
                  <a:cubicBezTo>
                    <a:pt x="132" y="0"/>
                    <a:pt x="1" y="149"/>
                    <a:pt x="1" y="351"/>
                  </a:cubicBezTo>
                  <a:lnTo>
                    <a:pt x="1" y="4509"/>
                  </a:lnTo>
                  <a:cubicBezTo>
                    <a:pt x="1" y="4698"/>
                    <a:pt x="158" y="4856"/>
                    <a:pt x="379" y="4856"/>
                  </a:cubicBezTo>
                  <a:lnTo>
                    <a:pt x="1418" y="4856"/>
                  </a:lnTo>
                  <a:lnTo>
                    <a:pt x="1418" y="4"/>
                  </a:lnTo>
                  <a:lnTo>
                    <a:pt x="379" y="4"/>
                  </a:lnTo>
                  <a:cubicBezTo>
                    <a:pt x="360" y="1"/>
                    <a:pt x="341" y="0"/>
                    <a:pt x="3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7" name="Google Shape;357;p38"/>
            <p:cNvSpPr/>
            <p:nvPr/>
          </p:nvSpPr>
          <p:spPr>
            <a:xfrm>
              <a:off x="6643075" y="3332025"/>
              <a:ext cx="143375" cy="104000"/>
            </a:xfrm>
            <a:custGeom>
              <a:avLst/>
              <a:gdLst/>
              <a:ahLst/>
              <a:cxnLst/>
              <a:rect l="l" t="t" r="r" b="b"/>
              <a:pathLst>
                <a:path w="5735" h="4160" extrusionOk="0">
                  <a:moveTo>
                    <a:pt x="1639" y="1"/>
                  </a:moveTo>
                  <a:cubicBezTo>
                    <a:pt x="1450" y="1"/>
                    <a:pt x="1198" y="158"/>
                    <a:pt x="1072" y="379"/>
                  </a:cubicBezTo>
                  <a:lnTo>
                    <a:pt x="0" y="2490"/>
                  </a:lnTo>
                  <a:cubicBezTo>
                    <a:pt x="158" y="2584"/>
                    <a:pt x="378" y="2616"/>
                    <a:pt x="567" y="2616"/>
                  </a:cubicBezTo>
                  <a:cubicBezTo>
                    <a:pt x="1072" y="2616"/>
                    <a:pt x="1544" y="2364"/>
                    <a:pt x="1796" y="1891"/>
                  </a:cubicBezTo>
                  <a:lnTo>
                    <a:pt x="2017" y="1418"/>
                  </a:lnTo>
                  <a:lnTo>
                    <a:pt x="2710" y="1418"/>
                  </a:lnTo>
                  <a:cubicBezTo>
                    <a:pt x="2899" y="1418"/>
                    <a:pt x="3056" y="1481"/>
                    <a:pt x="3182" y="1607"/>
                  </a:cubicBezTo>
                  <a:lnTo>
                    <a:pt x="5734" y="4159"/>
                  </a:lnTo>
                  <a:lnTo>
                    <a:pt x="573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58" name="Google Shape;358;p38"/>
            <p:cNvSpPr/>
            <p:nvPr/>
          </p:nvSpPr>
          <p:spPr>
            <a:xfrm>
              <a:off x="6595025" y="3288700"/>
              <a:ext cx="175675" cy="188725"/>
            </a:xfrm>
            <a:custGeom>
              <a:avLst/>
              <a:gdLst/>
              <a:ahLst/>
              <a:cxnLst/>
              <a:rect l="l" t="t" r="r" b="b"/>
              <a:pathLst>
                <a:path w="7027" h="7549" extrusionOk="0">
                  <a:moveTo>
                    <a:pt x="2206" y="1"/>
                  </a:moveTo>
                  <a:cubicBezTo>
                    <a:pt x="1828" y="1"/>
                    <a:pt x="1481" y="221"/>
                    <a:pt x="1261" y="568"/>
                  </a:cubicBezTo>
                  <a:lnTo>
                    <a:pt x="946" y="1198"/>
                  </a:lnTo>
                  <a:cubicBezTo>
                    <a:pt x="914" y="1324"/>
                    <a:pt x="757" y="1419"/>
                    <a:pt x="631" y="1419"/>
                  </a:cubicBezTo>
                  <a:lnTo>
                    <a:pt x="1" y="1419"/>
                  </a:lnTo>
                  <a:lnTo>
                    <a:pt x="1" y="6239"/>
                  </a:lnTo>
                  <a:lnTo>
                    <a:pt x="1576" y="6239"/>
                  </a:lnTo>
                  <a:lnTo>
                    <a:pt x="2584" y="7247"/>
                  </a:lnTo>
                  <a:cubicBezTo>
                    <a:pt x="2768" y="7431"/>
                    <a:pt x="3054" y="7548"/>
                    <a:pt x="3330" y="7548"/>
                  </a:cubicBezTo>
                  <a:cubicBezTo>
                    <a:pt x="3431" y="7548"/>
                    <a:pt x="3531" y="7533"/>
                    <a:pt x="3624" y="7499"/>
                  </a:cubicBezTo>
                  <a:lnTo>
                    <a:pt x="6585" y="6554"/>
                  </a:lnTo>
                  <a:cubicBezTo>
                    <a:pt x="6743" y="6522"/>
                    <a:pt x="6900" y="6396"/>
                    <a:pt x="7026" y="6302"/>
                  </a:cubicBezTo>
                  <a:lnTo>
                    <a:pt x="4537" y="3813"/>
                  </a:lnTo>
                  <a:lnTo>
                    <a:pt x="4380" y="3813"/>
                  </a:lnTo>
                  <a:lnTo>
                    <a:pt x="4348" y="3844"/>
                  </a:lnTo>
                  <a:cubicBezTo>
                    <a:pt x="4033" y="4506"/>
                    <a:pt x="3340" y="4947"/>
                    <a:pt x="2647" y="5042"/>
                  </a:cubicBezTo>
                  <a:cubicBezTo>
                    <a:pt x="2601" y="5044"/>
                    <a:pt x="2556" y="5046"/>
                    <a:pt x="2511" y="5046"/>
                  </a:cubicBezTo>
                  <a:cubicBezTo>
                    <a:pt x="2046" y="5046"/>
                    <a:pt x="1698" y="4899"/>
                    <a:pt x="1324" y="4727"/>
                  </a:cubicBezTo>
                  <a:cubicBezTo>
                    <a:pt x="1103" y="4632"/>
                    <a:pt x="1040" y="4412"/>
                    <a:pt x="1166" y="4254"/>
                  </a:cubicBezTo>
                  <a:lnTo>
                    <a:pt x="2363" y="1797"/>
                  </a:lnTo>
                  <a:cubicBezTo>
                    <a:pt x="2615" y="1324"/>
                    <a:pt x="3088" y="1041"/>
                    <a:pt x="3592" y="1041"/>
                  </a:cubicBezTo>
                  <a:lnTo>
                    <a:pt x="5104" y="1041"/>
                  </a:lnTo>
                  <a:cubicBezTo>
                    <a:pt x="5167" y="852"/>
                    <a:pt x="5262" y="631"/>
                    <a:pt x="5262" y="347"/>
                  </a:cubicBezTo>
                  <a:cubicBezTo>
                    <a:pt x="5262" y="158"/>
                    <a:pt x="5104" y="1"/>
                    <a:pt x="488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sp>
        <p:nvSpPr>
          <p:cNvPr id="359" name="Google Shape;359;p38"/>
          <p:cNvSpPr/>
          <p:nvPr/>
        </p:nvSpPr>
        <p:spPr>
          <a:xfrm>
            <a:off x="6145356" y="2586467"/>
            <a:ext cx="852800" cy="852800"/>
          </a:xfrm>
          <a:prstGeom prst="ellipse">
            <a:avLst/>
          </a:prstGeom>
          <a:solidFill>
            <a:srgbClr val="FF83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360" name="Google Shape;360;p38"/>
          <p:cNvSpPr txBox="1"/>
          <p:nvPr/>
        </p:nvSpPr>
        <p:spPr>
          <a:xfrm flipH="1">
            <a:off x="8073833" y="1953667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r>
              <a:rPr lang="en-US" sz="2133" b="1" dirty="0">
                <a:solidFill>
                  <a:srgbClr val="A41F31"/>
                </a:solidFill>
                <a:latin typeface="Poppins"/>
                <a:cs typeface="Poppins"/>
              </a:rPr>
              <a:t>Hybrid systems are </a:t>
            </a:r>
            <a:r>
              <a:rPr lang="en-US" sz="2133" b="1" i="1" u="sng" dirty="0">
                <a:solidFill>
                  <a:srgbClr val="A41F31"/>
                </a:solidFill>
                <a:latin typeface="Poppins"/>
                <a:cs typeface="Poppins"/>
              </a:rPr>
              <a:t>cheaper</a:t>
            </a:r>
            <a:r>
              <a:rPr lang="en-US" sz="2133" b="1" dirty="0">
                <a:solidFill>
                  <a:srgbClr val="A41F31"/>
                </a:solidFill>
                <a:latin typeface="Poppins"/>
                <a:cs typeface="Poppins"/>
              </a:rPr>
              <a:t>, cleaner &amp; reliable</a:t>
            </a:r>
          </a:p>
        </p:txBody>
      </p:sp>
      <p:sp>
        <p:nvSpPr>
          <p:cNvPr id="361" name="Google Shape;361;p38"/>
          <p:cNvSpPr/>
          <p:nvPr/>
        </p:nvSpPr>
        <p:spPr>
          <a:xfrm>
            <a:off x="6145373" y="3517917"/>
            <a:ext cx="852800" cy="852800"/>
          </a:xfrm>
          <a:prstGeom prst="ellipse">
            <a:avLst/>
          </a:prstGeom>
          <a:solidFill>
            <a:srgbClr val="FF83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362" name="Google Shape;362;p38"/>
          <p:cNvSpPr/>
          <p:nvPr/>
        </p:nvSpPr>
        <p:spPr>
          <a:xfrm>
            <a:off x="6410745" y="3732685"/>
            <a:ext cx="322032" cy="489681"/>
          </a:xfrm>
          <a:custGeom>
            <a:avLst/>
            <a:gdLst/>
            <a:ahLst/>
            <a:cxnLst/>
            <a:rect l="l" t="t" r="r" b="b"/>
            <a:pathLst>
              <a:path w="8350" h="12697" extrusionOk="0">
                <a:moveTo>
                  <a:pt x="4222" y="1166"/>
                </a:moveTo>
                <a:cubicBezTo>
                  <a:pt x="4443" y="1166"/>
                  <a:pt x="4600" y="1386"/>
                  <a:pt x="4600" y="1607"/>
                </a:cubicBezTo>
                <a:lnTo>
                  <a:pt x="4600" y="1890"/>
                </a:lnTo>
                <a:cubicBezTo>
                  <a:pt x="5073" y="2048"/>
                  <a:pt x="5451" y="2520"/>
                  <a:pt x="5451" y="3088"/>
                </a:cubicBezTo>
                <a:cubicBezTo>
                  <a:pt x="5451" y="3308"/>
                  <a:pt x="5231" y="3497"/>
                  <a:pt x="5010" y="3497"/>
                </a:cubicBezTo>
                <a:cubicBezTo>
                  <a:pt x="4758" y="3497"/>
                  <a:pt x="4600" y="3308"/>
                  <a:pt x="4600" y="3088"/>
                </a:cubicBezTo>
                <a:cubicBezTo>
                  <a:pt x="4600" y="2835"/>
                  <a:pt x="4411" y="2678"/>
                  <a:pt x="4222" y="2678"/>
                </a:cubicBezTo>
                <a:cubicBezTo>
                  <a:pt x="3970" y="2678"/>
                  <a:pt x="3781" y="2867"/>
                  <a:pt x="3781" y="3088"/>
                </a:cubicBezTo>
                <a:cubicBezTo>
                  <a:pt x="3781" y="3308"/>
                  <a:pt x="4096" y="3529"/>
                  <a:pt x="4443" y="3781"/>
                </a:cubicBezTo>
                <a:cubicBezTo>
                  <a:pt x="4884" y="4096"/>
                  <a:pt x="5451" y="4505"/>
                  <a:pt x="5451" y="5167"/>
                </a:cubicBezTo>
                <a:cubicBezTo>
                  <a:pt x="5451" y="5702"/>
                  <a:pt x="5073" y="6143"/>
                  <a:pt x="4600" y="6333"/>
                </a:cubicBezTo>
                <a:lnTo>
                  <a:pt x="4600" y="6616"/>
                </a:lnTo>
                <a:cubicBezTo>
                  <a:pt x="4600" y="6868"/>
                  <a:pt x="4411" y="7026"/>
                  <a:pt x="4222" y="7026"/>
                </a:cubicBezTo>
                <a:cubicBezTo>
                  <a:pt x="3970" y="7026"/>
                  <a:pt x="3781" y="6805"/>
                  <a:pt x="3781" y="6616"/>
                </a:cubicBezTo>
                <a:lnTo>
                  <a:pt x="3781" y="6333"/>
                </a:lnTo>
                <a:cubicBezTo>
                  <a:pt x="3309" y="6143"/>
                  <a:pt x="2962" y="5702"/>
                  <a:pt x="2962" y="5167"/>
                </a:cubicBezTo>
                <a:cubicBezTo>
                  <a:pt x="2962" y="4915"/>
                  <a:pt x="3151" y="4757"/>
                  <a:pt x="3372" y="4757"/>
                </a:cubicBezTo>
                <a:cubicBezTo>
                  <a:pt x="3624" y="4757"/>
                  <a:pt x="3781" y="4978"/>
                  <a:pt x="3781" y="5167"/>
                </a:cubicBezTo>
                <a:cubicBezTo>
                  <a:pt x="3781" y="5387"/>
                  <a:pt x="3970" y="5608"/>
                  <a:pt x="4222" y="5608"/>
                </a:cubicBezTo>
                <a:cubicBezTo>
                  <a:pt x="4443" y="5608"/>
                  <a:pt x="4600" y="5387"/>
                  <a:pt x="4600" y="5167"/>
                </a:cubicBezTo>
                <a:cubicBezTo>
                  <a:pt x="4600" y="4915"/>
                  <a:pt x="4285" y="4694"/>
                  <a:pt x="3939" y="4442"/>
                </a:cubicBezTo>
                <a:cubicBezTo>
                  <a:pt x="3498" y="4127"/>
                  <a:pt x="2962" y="3749"/>
                  <a:pt x="2962" y="3088"/>
                </a:cubicBezTo>
                <a:cubicBezTo>
                  <a:pt x="2962" y="2520"/>
                  <a:pt x="3309" y="2079"/>
                  <a:pt x="3781" y="1890"/>
                </a:cubicBezTo>
                <a:lnTo>
                  <a:pt x="3781" y="1607"/>
                </a:lnTo>
                <a:cubicBezTo>
                  <a:pt x="3781" y="1386"/>
                  <a:pt x="3970" y="1166"/>
                  <a:pt x="4222" y="1166"/>
                </a:cubicBezTo>
                <a:close/>
                <a:moveTo>
                  <a:pt x="4222" y="0"/>
                </a:moveTo>
                <a:cubicBezTo>
                  <a:pt x="1923" y="0"/>
                  <a:pt x="64" y="1859"/>
                  <a:pt x="64" y="4127"/>
                </a:cubicBezTo>
                <a:cubicBezTo>
                  <a:pt x="64" y="6270"/>
                  <a:pt x="1733" y="8034"/>
                  <a:pt x="3781" y="8223"/>
                </a:cubicBezTo>
                <a:lnTo>
                  <a:pt x="3781" y="9767"/>
                </a:lnTo>
                <a:cubicBezTo>
                  <a:pt x="3655" y="9609"/>
                  <a:pt x="3529" y="9483"/>
                  <a:pt x="3372" y="9325"/>
                </a:cubicBezTo>
                <a:cubicBezTo>
                  <a:pt x="2647" y="8601"/>
                  <a:pt x="1576" y="8128"/>
                  <a:pt x="442" y="8128"/>
                </a:cubicBezTo>
                <a:cubicBezTo>
                  <a:pt x="190" y="8128"/>
                  <a:pt x="32" y="8317"/>
                  <a:pt x="32" y="8506"/>
                </a:cubicBezTo>
                <a:cubicBezTo>
                  <a:pt x="1" y="9609"/>
                  <a:pt x="442" y="10617"/>
                  <a:pt x="1261" y="11468"/>
                </a:cubicBezTo>
                <a:cubicBezTo>
                  <a:pt x="2049" y="12255"/>
                  <a:pt x="3057" y="12696"/>
                  <a:pt x="4096" y="12696"/>
                </a:cubicBezTo>
                <a:lnTo>
                  <a:pt x="4159" y="12696"/>
                </a:lnTo>
                <a:cubicBezTo>
                  <a:pt x="5231" y="12696"/>
                  <a:pt x="6302" y="12287"/>
                  <a:pt x="7089" y="11468"/>
                </a:cubicBezTo>
                <a:cubicBezTo>
                  <a:pt x="7877" y="10680"/>
                  <a:pt x="8318" y="9641"/>
                  <a:pt x="8318" y="8506"/>
                </a:cubicBezTo>
                <a:cubicBezTo>
                  <a:pt x="8350" y="8317"/>
                  <a:pt x="8160" y="8128"/>
                  <a:pt x="7940" y="8128"/>
                </a:cubicBezTo>
                <a:cubicBezTo>
                  <a:pt x="7871" y="8124"/>
                  <a:pt x="7801" y="8122"/>
                  <a:pt x="7733" y="8122"/>
                </a:cubicBezTo>
                <a:cubicBezTo>
                  <a:pt x="6711" y="8122"/>
                  <a:pt x="5778" y="8558"/>
                  <a:pt x="5010" y="9325"/>
                </a:cubicBezTo>
                <a:cubicBezTo>
                  <a:pt x="4852" y="9483"/>
                  <a:pt x="4726" y="9609"/>
                  <a:pt x="4600" y="9767"/>
                </a:cubicBezTo>
                <a:lnTo>
                  <a:pt x="4600" y="8223"/>
                </a:lnTo>
                <a:cubicBezTo>
                  <a:pt x="6680" y="8034"/>
                  <a:pt x="8350" y="6270"/>
                  <a:pt x="8350" y="4127"/>
                </a:cubicBezTo>
                <a:cubicBezTo>
                  <a:pt x="8350" y="1859"/>
                  <a:pt x="6491" y="0"/>
                  <a:pt x="4222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363" name="Google Shape;363;p38"/>
          <p:cNvSpPr/>
          <p:nvPr/>
        </p:nvSpPr>
        <p:spPr>
          <a:xfrm>
            <a:off x="6326287" y="2821474"/>
            <a:ext cx="490915" cy="382775"/>
          </a:xfrm>
          <a:custGeom>
            <a:avLst/>
            <a:gdLst/>
            <a:ahLst/>
            <a:cxnLst/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4"/>
                </a:lnTo>
                <a:lnTo>
                  <a:pt x="978" y="6239"/>
                </a:lnTo>
                <a:cubicBezTo>
                  <a:pt x="960" y="6256"/>
                  <a:pt x="937" y="6264"/>
                  <a:pt x="914" y="6264"/>
                </a:cubicBezTo>
                <a:cubicBezTo>
                  <a:pt x="854" y="6264"/>
                  <a:pt x="788" y="621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4128" y="7184"/>
                </a:moveTo>
                <a:lnTo>
                  <a:pt x="6963" y="8035"/>
                </a:lnTo>
                <a:cubicBezTo>
                  <a:pt x="6648" y="8507"/>
                  <a:pt x="6176" y="8759"/>
                  <a:pt x="5640" y="8759"/>
                </a:cubicBezTo>
                <a:cubicBezTo>
                  <a:pt x="4821" y="8759"/>
                  <a:pt x="4097" y="8066"/>
                  <a:pt x="4128" y="7184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198"/>
                </a:cubicBezTo>
                <a:lnTo>
                  <a:pt x="11815" y="8665"/>
                </a:lnTo>
                <a:cubicBezTo>
                  <a:pt x="11815" y="8885"/>
                  <a:pt x="11626" y="9043"/>
                  <a:pt x="11374" y="9043"/>
                </a:cubicBezTo>
                <a:cubicBezTo>
                  <a:pt x="11154" y="9043"/>
                  <a:pt x="10996" y="8854"/>
                  <a:pt x="10996" y="8665"/>
                </a:cubicBezTo>
                <a:lnTo>
                  <a:pt x="10996" y="1198"/>
                </a:lnTo>
                <a:cubicBezTo>
                  <a:pt x="10996" y="977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70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5"/>
                  <a:pt x="983" y="7095"/>
                </a:cubicBezTo>
                <a:cubicBezTo>
                  <a:pt x="1127" y="7095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44"/>
                  <a:pt x="4286" y="9641"/>
                  <a:pt x="5672" y="9641"/>
                </a:cubicBezTo>
                <a:cubicBezTo>
                  <a:pt x="6585" y="9641"/>
                  <a:pt x="7405" y="9074"/>
                  <a:pt x="7814" y="8287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96"/>
                </a:cubicBezTo>
                <a:lnTo>
                  <a:pt x="12729" y="1261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364" name="Google Shape;364;p38"/>
          <p:cNvSpPr/>
          <p:nvPr/>
        </p:nvSpPr>
        <p:spPr>
          <a:xfrm>
            <a:off x="5124189" y="2586451"/>
            <a:ext cx="852800" cy="852800"/>
          </a:xfrm>
          <a:prstGeom prst="ellipse">
            <a:avLst/>
          </a:prstGeom>
          <a:solidFill>
            <a:srgbClr val="FF83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2400"/>
          </a:p>
        </p:txBody>
      </p:sp>
      <p:sp>
        <p:nvSpPr>
          <p:cNvPr id="365" name="Google Shape;365;p38"/>
          <p:cNvSpPr txBox="1"/>
          <p:nvPr/>
        </p:nvSpPr>
        <p:spPr>
          <a:xfrm>
            <a:off x="3280067" y="6023167"/>
            <a:ext cx="56320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47500" lnSpcReduction="20000"/>
          </a:bodyPr>
          <a:lstStyle/>
          <a:p>
            <a:pPr algn="ctr">
              <a:spcAft>
                <a:spcPts val="1600"/>
              </a:spcAft>
            </a:pPr>
            <a:r>
              <a:rPr lang="en" sz="2133" b="1">
                <a:solidFill>
                  <a:srgbClr val="00184F"/>
                </a:solidFill>
                <a:latin typeface="Poppins"/>
                <a:ea typeface="Poppins"/>
                <a:cs typeface="Poppins"/>
                <a:sym typeface="Poppins"/>
              </a:rPr>
              <a:t>This is a description of the whole thing</a:t>
            </a:r>
            <a:endParaRPr sz="2133" b="1">
              <a:solidFill>
                <a:srgbClr val="001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366" name="Google Shape;366;p38"/>
          <p:cNvGrpSpPr/>
          <p:nvPr/>
        </p:nvGrpSpPr>
        <p:grpSpPr>
          <a:xfrm>
            <a:off x="5351662" y="2776497"/>
            <a:ext cx="397836" cy="472692"/>
            <a:chOff x="-48233050" y="3569725"/>
            <a:chExt cx="252050" cy="299475"/>
          </a:xfrm>
        </p:grpSpPr>
        <p:sp>
          <p:nvSpPr>
            <p:cNvPr id="367" name="Google Shape;367;p38"/>
            <p:cNvSpPr/>
            <p:nvPr/>
          </p:nvSpPr>
          <p:spPr>
            <a:xfrm>
              <a:off x="-48233050" y="3569725"/>
              <a:ext cx="252050" cy="299475"/>
            </a:xfrm>
            <a:custGeom>
              <a:avLst/>
              <a:gdLst/>
              <a:ahLst/>
              <a:cxnLst/>
              <a:rect l="l" t="t" r="r" b="b"/>
              <a:pathLst>
                <a:path w="10082" h="11979" extrusionOk="0">
                  <a:moveTo>
                    <a:pt x="5230" y="1393"/>
                  </a:moveTo>
                  <a:cubicBezTo>
                    <a:pt x="5419" y="1393"/>
                    <a:pt x="5577" y="1551"/>
                    <a:pt x="5577" y="1740"/>
                  </a:cubicBezTo>
                  <a:lnTo>
                    <a:pt x="5577" y="1960"/>
                  </a:lnTo>
                  <a:cubicBezTo>
                    <a:pt x="5703" y="2023"/>
                    <a:pt x="5829" y="2086"/>
                    <a:pt x="5923" y="2181"/>
                  </a:cubicBezTo>
                  <a:lnTo>
                    <a:pt x="6144" y="2055"/>
                  </a:lnTo>
                  <a:cubicBezTo>
                    <a:pt x="6194" y="2025"/>
                    <a:pt x="6251" y="2011"/>
                    <a:pt x="6308" y="2011"/>
                  </a:cubicBezTo>
                  <a:cubicBezTo>
                    <a:pt x="6430" y="2011"/>
                    <a:pt x="6552" y="2074"/>
                    <a:pt x="6616" y="2181"/>
                  </a:cubicBezTo>
                  <a:lnTo>
                    <a:pt x="7309" y="3410"/>
                  </a:lnTo>
                  <a:cubicBezTo>
                    <a:pt x="7467" y="3725"/>
                    <a:pt x="7246" y="3819"/>
                    <a:pt x="6963" y="3977"/>
                  </a:cubicBezTo>
                  <a:lnTo>
                    <a:pt x="6963" y="4386"/>
                  </a:lnTo>
                  <a:cubicBezTo>
                    <a:pt x="7246" y="4544"/>
                    <a:pt x="7467" y="4670"/>
                    <a:pt x="7309" y="4985"/>
                  </a:cubicBezTo>
                  <a:lnTo>
                    <a:pt x="6616" y="6182"/>
                  </a:lnTo>
                  <a:cubicBezTo>
                    <a:pt x="6531" y="6289"/>
                    <a:pt x="6417" y="6366"/>
                    <a:pt x="6303" y="6366"/>
                  </a:cubicBezTo>
                  <a:cubicBezTo>
                    <a:pt x="6249" y="6366"/>
                    <a:pt x="6195" y="6349"/>
                    <a:pt x="6144" y="6308"/>
                  </a:cubicBezTo>
                  <a:lnTo>
                    <a:pt x="5923" y="6182"/>
                  </a:lnTo>
                  <a:cubicBezTo>
                    <a:pt x="5829" y="6277"/>
                    <a:pt x="5703" y="6340"/>
                    <a:pt x="5577" y="6403"/>
                  </a:cubicBezTo>
                  <a:lnTo>
                    <a:pt x="5577" y="6623"/>
                  </a:lnTo>
                  <a:cubicBezTo>
                    <a:pt x="5577" y="6812"/>
                    <a:pt x="5419" y="6970"/>
                    <a:pt x="5230" y="6970"/>
                  </a:cubicBezTo>
                  <a:lnTo>
                    <a:pt x="3812" y="6970"/>
                  </a:lnTo>
                  <a:cubicBezTo>
                    <a:pt x="3623" y="6970"/>
                    <a:pt x="3466" y="6812"/>
                    <a:pt x="3466" y="6623"/>
                  </a:cubicBezTo>
                  <a:lnTo>
                    <a:pt x="3466" y="6403"/>
                  </a:lnTo>
                  <a:cubicBezTo>
                    <a:pt x="3340" y="6340"/>
                    <a:pt x="3214" y="6277"/>
                    <a:pt x="3119" y="6182"/>
                  </a:cubicBezTo>
                  <a:lnTo>
                    <a:pt x="2899" y="6308"/>
                  </a:lnTo>
                  <a:cubicBezTo>
                    <a:pt x="2848" y="6338"/>
                    <a:pt x="2791" y="6352"/>
                    <a:pt x="2734" y="6352"/>
                  </a:cubicBezTo>
                  <a:cubicBezTo>
                    <a:pt x="2613" y="6352"/>
                    <a:pt x="2490" y="6289"/>
                    <a:pt x="2426" y="6182"/>
                  </a:cubicBezTo>
                  <a:lnTo>
                    <a:pt x="1733" y="4985"/>
                  </a:lnTo>
                  <a:cubicBezTo>
                    <a:pt x="1638" y="4827"/>
                    <a:pt x="1670" y="4575"/>
                    <a:pt x="1859" y="4512"/>
                  </a:cubicBezTo>
                  <a:lnTo>
                    <a:pt x="2048" y="4386"/>
                  </a:lnTo>
                  <a:lnTo>
                    <a:pt x="2048" y="3977"/>
                  </a:lnTo>
                  <a:lnTo>
                    <a:pt x="1859" y="3882"/>
                  </a:lnTo>
                  <a:cubicBezTo>
                    <a:pt x="1702" y="3788"/>
                    <a:pt x="1607" y="3536"/>
                    <a:pt x="1733" y="3410"/>
                  </a:cubicBezTo>
                  <a:lnTo>
                    <a:pt x="2426" y="2181"/>
                  </a:lnTo>
                  <a:cubicBezTo>
                    <a:pt x="2490" y="2074"/>
                    <a:pt x="2612" y="1997"/>
                    <a:pt x="2733" y="1997"/>
                  </a:cubicBezTo>
                  <a:cubicBezTo>
                    <a:pt x="2790" y="1997"/>
                    <a:pt x="2848" y="2014"/>
                    <a:pt x="2899" y="2055"/>
                  </a:cubicBezTo>
                  <a:lnTo>
                    <a:pt x="3119" y="2181"/>
                  </a:lnTo>
                  <a:cubicBezTo>
                    <a:pt x="3214" y="2086"/>
                    <a:pt x="3340" y="2023"/>
                    <a:pt x="3466" y="1960"/>
                  </a:cubicBezTo>
                  <a:lnTo>
                    <a:pt x="3466" y="1740"/>
                  </a:lnTo>
                  <a:cubicBezTo>
                    <a:pt x="3466" y="1551"/>
                    <a:pt x="3623" y="1393"/>
                    <a:pt x="3812" y="1393"/>
                  </a:cubicBezTo>
                  <a:close/>
                  <a:moveTo>
                    <a:pt x="4547" y="0"/>
                  </a:moveTo>
                  <a:cubicBezTo>
                    <a:pt x="3499" y="0"/>
                    <a:pt x="2484" y="337"/>
                    <a:pt x="1670" y="984"/>
                  </a:cubicBezTo>
                  <a:cubicBezTo>
                    <a:pt x="630" y="1866"/>
                    <a:pt x="0" y="3158"/>
                    <a:pt x="0" y="4544"/>
                  </a:cubicBezTo>
                  <a:cubicBezTo>
                    <a:pt x="0" y="5804"/>
                    <a:pt x="504" y="6970"/>
                    <a:pt x="1418" y="7852"/>
                  </a:cubicBezTo>
                  <a:lnTo>
                    <a:pt x="1418" y="11632"/>
                  </a:lnTo>
                  <a:cubicBezTo>
                    <a:pt x="1418" y="11821"/>
                    <a:pt x="1575" y="11979"/>
                    <a:pt x="1765" y="11979"/>
                  </a:cubicBezTo>
                  <a:lnTo>
                    <a:pt x="5986" y="11979"/>
                  </a:lnTo>
                  <a:cubicBezTo>
                    <a:pt x="6175" y="11979"/>
                    <a:pt x="6333" y="11821"/>
                    <a:pt x="6333" y="11632"/>
                  </a:cubicBezTo>
                  <a:lnTo>
                    <a:pt x="6333" y="10530"/>
                  </a:lnTo>
                  <a:lnTo>
                    <a:pt x="8097" y="10530"/>
                  </a:lnTo>
                  <a:cubicBezTo>
                    <a:pt x="8286" y="10530"/>
                    <a:pt x="8444" y="10372"/>
                    <a:pt x="8444" y="10183"/>
                  </a:cubicBezTo>
                  <a:lnTo>
                    <a:pt x="8444" y="8387"/>
                  </a:lnTo>
                  <a:lnTo>
                    <a:pt x="9042" y="8387"/>
                  </a:lnTo>
                  <a:cubicBezTo>
                    <a:pt x="9389" y="8387"/>
                    <a:pt x="9767" y="8198"/>
                    <a:pt x="9956" y="7883"/>
                  </a:cubicBezTo>
                  <a:cubicBezTo>
                    <a:pt x="10082" y="7568"/>
                    <a:pt x="10082" y="7190"/>
                    <a:pt x="9924" y="6875"/>
                  </a:cubicBezTo>
                  <a:lnTo>
                    <a:pt x="9042" y="5237"/>
                  </a:lnTo>
                  <a:cubicBezTo>
                    <a:pt x="9137" y="4701"/>
                    <a:pt x="9137" y="4134"/>
                    <a:pt x="9011" y="3599"/>
                  </a:cubicBezTo>
                  <a:cubicBezTo>
                    <a:pt x="8664" y="1866"/>
                    <a:pt x="7246" y="480"/>
                    <a:pt x="5545" y="102"/>
                  </a:cubicBezTo>
                  <a:cubicBezTo>
                    <a:pt x="5213" y="34"/>
                    <a:pt x="4878" y="0"/>
                    <a:pt x="45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8" name="Google Shape;368;p38"/>
            <p:cNvSpPr/>
            <p:nvPr/>
          </p:nvSpPr>
          <p:spPr>
            <a:xfrm>
              <a:off x="-48170050" y="3622650"/>
              <a:ext cx="100050" cy="103225"/>
            </a:xfrm>
            <a:custGeom>
              <a:avLst/>
              <a:gdLst/>
              <a:ahLst/>
              <a:cxnLst/>
              <a:rect l="l" t="t" r="r" b="b"/>
              <a:pathLst>
                <a:path w="4002" h="4129" extrusionOk="0">
                  <a:moveTo>
                    <a:pt x="1985" y="1009"/>
                  </a:moveTo>
                  <a:cubicBezTo>
                    <a:pt x="2584" y="1009"/>
                    <a:pt x="3057" y="1482"/>
                    <a:pt x="3057" y="2080"/>
                  </a:cubicBezTo>
                  <a:cubicBezTo>
                    <a:pt x="3057" y="2647"/>
                    <a:pt x="2584" y="3120"/>
                    <a:pt x="1985" y="3120"/>
                  </a:cubicBezTo>
                  <a:cubicBezTo>
                    <a:pt x="1418" y="3120"/>
                    <a:pt x="946" y="2647"/>
                    <a:pt x="946" y="2080"/>
                  </a:cubicBezTo>
                  <a:cubicBezTo>
                    <a:pt x="946" y="1482"/>
                    <a:pt x="1418" y="1009"/>
                    <a:pt x="1985" y="1009"/>
                  </a:cubicBezTo>
                  <a:close/>
                  <a:moveTo>
                    <a:pt x="1639" y="1"/>
                  </a:moveTo>
                  <a:lnTo>
                    <a:pt x="1639" y="127"/>
                  </a:lnTo>
                  <a:cubicBezTo>
                    <a:pt x="1639" y="284"/>
                    <a:pt x="1576" y="410"/>
                    <a:pt x="1418" y="442"/>
                  </a:cubicBezTo>
                  <a:cubicBezTo>
                    <a:pt x="1198" y="537"/>
                    <a:pt x="1009" y="631"/>
                    <a:pt x="851" y="757"/>
                  </a:cubicBezTo>
                  <a:cubicBezTo>
                    <a:pt x="770" y="818"/>
                    <a:pt x="689" y="853"/>
                    <a:pt x="607" y="853"/>
                  </a:cubicBezTo>
                  <a:cubicBezTo>
                    <a:pt x="562" y="853"/>
                    <a:pt x="518" y="842"/>
                    <a:pt x="473" y="820"/>
                  </a:cubicBezTo>
                  <a:lnTo>
                    <a:pt x="347" y="726"/>
                  </a:lnTo>
                  <a:lnTo>
                    <a:pt x="1" y="1324"/>
                  </a:lnTo>
                  <a:lnTo>
                    <a:pt x="127" y="1387"/>
                  </a:lnTo>
                  <a:cubicBezTo>
                    <a:pt x="221" y="1482"/>
                    <a:pt x="316" y="1639"/>
                    <a:pt x="253" y="1765"/>
                  </a:cubicBezTo>
                  <a:cubicBezTo>
                    <a:pt x="221" y="1986"/>
                    <a:pt x="221" y="2143"/>
                    <a:pt x="253" y="2395"/>
                  </a:cubicBezTo>
                  <a:cubicBezTo>
                    <a:pt x="316" y="2553"/>
                    <a:pt x="221" y="2647"/>
                    <a:pt x="127" y="2742"/>
                  </a:cubicBezTo>
                  <a:lnTo>
                    <a:pt x="1" y="2805"/>
                  </a:lnTo>
                  <a:lnTo>
                    <a:pt x="347" y="3403"/>
                  </a:lnTo>
                  <a:lnTo>
                    <a:pt x="473" y="3340"/>
                  </a:lnTo>
                  <a:cubicBezTo>
                    <a:pt x="532" y="3297"/>
                    <a:pt x="590" y="3273"/>
                    <a:pt x="649" y="3273"/>
                  </a:cubicBezTo>
                  <a:cubicBezTo>
                    <a:pt x="716" y="3273"/>
                    <a:pt x="784" y="3304"/>
                    <a:pt x="851" y="3372"/>
                  </a:cubicBezTo>
                  <a:cubicBezTo>
                    <a:pt x="1009" y="3529"/>
                    <a:pt x="1198" y="3592"/>
                    <a:pt x="1418" y="3687"/>
                  </a:cubicBezTo>
                  <a:cubicBezTo>
                    <a:pt x="1576" y="3718"/>
                    <a:pt x="1639" y="3876"/>
                    <a:pt x="1639" y="4002"/>
                  </a:cubicBezTo>
                  <a:lnTo>
                    <a:pt x="1639" y="4128"/>
                  </a:lnTo>
                  <a:lnTo>
                    <a:pt x="2364" y="4128"/>
                  </a:lnTo>
                  <a:lnTo>
                    <a:pt x="2364" y="4002"/>
                  </a:lnTo>
                  <a:cubicBezTo>
                    <a:pt x="2364" y="3845"/>
                    <a:pt x="2427" y="3718"/>
                    <a:pt x="2584" y="3687"/>
                  </a:cubicBezTo>
                  <a:cubicBezTo>
                    <a:pt x="2805" y="3592"/>
                    <a:pt x="2994" y="3498"/>
                    <a:pt x="3151" y="3372"/>
                  </a:cubicBezTo>
                  <a:cubicBezTo>
                    <a:pt x="3224" y="3317"/>
                    <a:pt x="3298" y="3283"/>
                    <a:pt x="3371" y="3283"/>
                  </a:cubicBezTo>
                  <a:cubicBezTo>
                    <a:pt x="3424" y="3283"/>
                    <a:pt x="3476" y="3301"/>
                    <a:pt x="3529" y="3340"/>
                  </a:cubicBezTo>
                  <a:lnTo>
                    <a:pt x="3655" y="3403"/>
                  </a:lnTo>
                  <a:lnTo>
                    <a:pt x="4002" y="2805"/>
                  </a:lnTo>
                  <a:lnTo>
                    <a:pt x="3876" y="2742"/>
                  </a:lnTo>
                  <a:cubicBezTo>
                    <a:pt x="3781" y="2647"/>
                    <a:pt x="3687" y="2490"/>
                    <a:pt x="3750" y="2395"/>
                  </a:cubicBezTo>
                  <a:cubicBezTo>
                    <a:pt x="3781" y="2143"/>
                    <a:pt x="3781" y="1986"/>
                    <a:pt x="3750" y="1765"/>
                  </a:cubicBezTo>
                  <a:cubicBezTo>
                    <a:pt x="3687" y="1608"/>
                    <a:pt x="3781" y="1482"/>
                    <a:pt x="3876" y="1387"/>
                  </a:cubicBezTo>
                  <a:lnTo>
                    <a:pt x="4002" y="1324"/>
                  </a:lnTo>
                  <a:lnTo>
                    <a:pt x="3655" y="726"/>
                  </a:lnTo>
                  <a:lnTo>
                    <a:pt x="3529" y="820"/>
                  </a:lnTo>
                  <a:cubicBezTo>
                    <a:pt x="3477" y="846"/>
                    <a:pt x="3425" y="861"/>
                    <a:pt x="3373" y="861"/>
                  </a:cubicBezTo>
                  <a:cubicBezTo>
                    <a:pt x="3299" y="861"/>
                    <a:pt x="3225" y="831"/>
                    <a:pt x="3151" y="757"/>
                  </a:cubicBezTo>
                  <a:cubicBezTo>
                    <a:pt x="2994" y="600"/>
                    <a:pt x="2805" y="537"/>
                    <a:pt x="2584" y="442"/>
                  </a:cubicBezTo>
                  <a:cubicBezTo>
                    <a:pt x="2427" y="410"/>
                    <a:pt x="2364" y="253"/>
                    <a:pt x="2364" y="127"/>
                  </a:cubicBezTo>
                  <a:lnTo>
                    <a:pt x="236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69" name="Google Shape;369;p38"/>
            <p:cNvSpPr/>
            <p:nvPr/>
          </p:nvSpPr>
          <p:spPr>
            <a:xfrm>
              <a:off x="-48129100" y="366520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cubicBezTo>
                    <a:pt x="568" y="725"/>
                    <a:pt x="726" y="567"/>
                    <a:pt x="726" y="378"/>
                  </a:cubicBezTo>
                  <a:cubicBezTo>
                    <a:pt x="726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pic>
        <p:nvPicPr>
          <p:cNvPr id="370" name="Google Shape;37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8734" y="730867"/>
            <a:ext cx="5396267" cy="7765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2" name="Google Shape;372;p38"/>
          <p:cNvCxnSpPr>
            <a:endCxn id="364" idx="2"/>
          </p:cNvCxnSpPr>
          <p:nvPr/>
        </p:nvCxnSpPr>
        <p:spPr>
          <a:xfrm>
            <a:off x="4049789" y="2262851"/>
            <a:ext cx="1074400" cy="7500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1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Google Shape;373;p38"/>
          <p:cNvCxnSpPr/>
          <p:nvPr/>
        </p:nvCxnSpPr>
        <p:spPr>
          <a:xfrm flipH="1">
            <a:off x="6998789" y="2262851"/>
            <a:ext cx="1074400" cy="7500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1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4" name="Google Shape;374;p38"/>
          <p:cNvSpPr txBox="1"/>
          <p:nvPr/>
        </p:nvSpPr>
        <p:spPr>
          <a:xfrm>
            <a:off x="721600" y="4370733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r"/>
            <a:r>
              <a:rPr lang="en-US" sz="2133" b="1" dirty="0">
                <a:solidFill>
                  <a:srgbClr val="A41F31"/>
                </a:solidFill>
                <a:latin typeface="Poppins"/>
                <a:cs typeface="Poppins"/>
              </a:rPr>
              <a:t>Upfront cost, regulation, technical know-how</a:t>
            </a:r>
          </a:p>
        </p:txBody>
      </p:sp>
      <p:sp>
        <p:nvSpPr>
          <p:cNvPr id="375" name="Google Shape;375;p38"/>
          <p:cNvSpPr txBox="1"/>
          <p:nvPr/>
        </p:nvSpPr>
        <p:spPr>
          <a:xfrm flipH="1">
            <a:off x="8073833" y="4370733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lnSpcReduction="10000"/>
          </a:bodyPr>
          <a:lstStyle/>
          <a:p>
            <a:pPr>
              <a:spcAft>
                <a:spcPts val="1600"/>
              </a:spcAft>
            </a:pPr>
            <a:r>
              <a:rPr lang="en-US" sz="2133" b="1" dirty="0">
                <a:solidFill>
                  <a:srgbClr val="A41F31"/>
                </a:solidFill>
                <a:latin typeface="Poppins"/>
                <a:cs typeface="Poppins"/>
              </a:rPr>
              <a:t>Barriers: Directing Attention &amp; Calling to Action</a:t>
            </a:r>
            <a:endParaRPr sz="2133" b="1" dirty="0">
              <a:solidFill>
                <a:srgbClr val="A41F31"/>
              </a:solidFill>
              <a:latin typeface="Poppins"/>
              <a:cs typeface="Poppins"/>
              <a:sym typeface="Poppins"/>
            </a:endParaRPr>
          </a:p>
        </p:txBody>
      </p:sp>
      <p:cxnSp>
        <p:nvCxnSpPr>
          <p:cNvPr id="376" name="Google Shape;376;p38"/>
          <p:cNvCxnSpPr/>
          <p:nvPr/>
        </p:nvCxnSpPr>
        <p:spPr>
          <a:xfrm rot="10800000" flipH="1">
            <a:off x="4049789" y="3918917"/>
            <a:ext cx="1074400" cy="7500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184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8"/>
          <p:cNvCxnSpPr/>
          <p:nvPr/>
        </p:nvCxnSpPr>
        <p:spPr>
          <a:xfrm rot="10800000">
            <a:off x="6998789" y="3918917"/>
            <a:ext cx="1074400" cy="750000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rgbClr val="00184F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79" name="Google Shape;379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4069" y="5644984"/>
            <a:ext cx="1397233" cy="108843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5A9B74-20DB-E8CD-19A3-FD62F971B69F}"/>
              </a:ext>
            </a:extLst>
          </p:cNvPr>
          <p:cNvSpPr txBox="1"/>
          <p:nvPr/>
        </p:nvSpPr>
        <p:spPr>
          <a:xfrm>
            <a:off x="76201" y="730867"/>
            <a:ext cx="441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One Hand Doesn’t Clap; Hybrid Beats Diesel Alone</a:t>
            </a:r>
            <a:endParaRPr lang="en-AE" dirty="0"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981C4C1D-DAC3-C861-F215-DF827F8C47A8}"/>
              </a:ext>
            </a:extLst>
          </p:cNvPr>
          <p:cNvSpPr txBox="1">
            <a:spLocks/>
          </p:cNvSpPr>
          <p:nvPr/>
        </p:nvSpPr>
        <p:spPr>
          <a:xfrm>
            <a:off x="1174850" y="252009"/>
            <a:ext cx="74936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0" i="0" kern="1200" cap="all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Conclusion:</a:t>
            </a:r>
            <a:endParaRPr lang="en-US" spc="-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C2A7-2840-2FF4-DC8C-CAF6096C4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>
            <a:extLst>
              <a:ext uri="{FF2B5EF4-FFF2-40B4-BE49-F238E27FC236}">
                <a16:creationId xmlns:a16="http://schemas.microsoft.com/office/drawing/2014/main" id="{F955B86B-800C-CAC8-C0F1-3B2BA5DE6749}"/>
              </a:ext>
            </a:extLst>
          </p:cNvPr>
          <p:cNvSpPr/>
          <p:nvPr/>
        </p:nvSpPr>
        <p:spPr>
          <a:xfrm>
            <a:off x="0" y="1143000"/>
            <a:ext cx="12192000" cy="152400"/>
          </a:xfrm>
          <a:custGeom>
            <a:avLst/>
            <a:gdLst/>
            <a:ahLst/>
            <a:cxnLst/>
            <a:rect l="l" t="t" r="r" b="b"/>
            <a:pathLst>
              <a:path w="11734800" h="76200">
                <a:moveTo>
                  <a:pt x="38100" y="0"/>
                </a:moveTo>
                <a:lnTo>
                  <a:pt x="0" y="38100"/>
                </a:lnTo>
                <a:lnTo>
                  <a:pt x="38100" y="76200"/>
                </a:lnTo>
                <a:lnTo>
                  <a:pt x="73025" y="41275"/>
                </a:lnTo>
                <a:lnTo>
                  <a:pt x="38100" y="41275"/>
                </a:lnTo>
                <a:lnTo>
                  <a:pt x="38100" y="34925"/>
                </a:lnTo>
                <a:lnTo>
                  <a:pt x="73025" y="34925"/>
                </a:lnTo>
                <a:lnTo>
                  <a:pt x="38100" y="0"/>
                </a:lnTo>
                <a:close/>
              </a:path>
              <a:path w="11734800" h="76200">
                <a:moveTo>
                  <a:pt x="11696700" y="0"/>
                </a:moveTo>
                <a:lnTo>
                  <a:pt x="11658600" y="38100"/>
                </a:lnTo>
                <a:lnTo>
                  <a:pt x="11696700" y="76200"/>
                </a:lnTo>
                <a:lnTo>
                  <a:pt x="11731625" y="41275"/>
                </a:lnTo>
                <a:lnTo>
                  <a:pt x="11696700" y="41275"/>
                </a:lnTo>
                <a:lnTo>
                  <a:pt x="11696700" y="34925"/>
                </a:lnTo>
                <a:lnTo>
                  <a:pt x="11731625" y="34925"/>
                </a:lnTo>
                <a:lnTo>
                  <a:pt x="11696700" y="0"/>
                </a:lnTo>
                <a:close/>
              </a:path>
              <a:path w="11734800" h="76200">
                <a:moveTo>
                  <a:pt x="73025" y="34925"/>
                </a:moveTo>
                <a:lnTo>
                  <a:pt x="38100" y="34925"/>
                </a:lnTo>
                <a:lnTo>
                  <a:pt x="38100" y="41275"/>
                </a:lnTo>
                <a:lnTo>
                  <a:pt x="73025" y="41275"/>
                </a:lnTo>
                <a:lnTo>
                  <a:pt x="76200" y="38100"/>
                </a:lnTo>
                <a:lnTo>
                  <a:pt x="73025" y="34925"/>
                </a:lnTo>
                <a:close/>
              </a:path>
              <a:path w="11734800" h="76200">
                <a:moveTo>
                  <a:pt x="11661775" y="34925"/>
                </a:moveTo>
                <a:lnTo>
                  <a:pt x="73025" y="34925"/>
                </a:lnTo>
                <a:lnTo>
                  <a:pt x="76200" y="38100"/>
                </a:lnTo>
                <a:lnTo>
                  <a:pt x="73025" y="41275"/>
                </a:lnTo>
                <a:lnTo>
                  <a:pt x="11661775" y="41275"/>
                </a:lnTo>
                <a:lnTo>
                  <a:pt x="11658600" y="38100"/>
                </a:lnTo>
                <a:lnTo>
                  <a:pt x="11661775" y="34925"/>
                </a:lnTo>
                <a:close/>
              </a:path>
              <a:path w="11734800" h="76200">
                <a:moveTo>
                  <a:pt x="11731625" y="34925"/>
                </a:moveTo>
                <a:lnTo>
                  <a:pt x="11696700" y="34925"/>
                </a:lnTo>
                <a:lnTo>
                  <a:pt x="11696700" y="41275"/>
                </a:lnTo>
                <a:lnTo>
                  <a:pt x="11731625" y="41275"/>
                </a:lnTo>
                <a:lnTo>
                  <a:pt x="11734800" y="38100"/>
                </a:lnTo>
                <a:lnTo>
                  <a:pt x="11731625" y="34925"/>
                </a:lnTo>
                <a:close/>
              </a:path>
            </a:pathLst>
          </a:custGeom>
          <a:solidFill>
            <a:srgbClr val="03506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EF7C8EF8-152B-0C2F-4528-03E09A06B0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48000" y="628208"/>
            <a:ext cx="749363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Communications &amp; Impact</a:t>
            </a:r>
            <a:endParaRPr spc="-1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D11A41-7164-49A2-546F-A6CFFE1FA9AA}"/>
              </a:ext>
            </a:extLst>
          </p:cNvPr>
          <p:cNvSpPr txBox="1"/>
          <p:nvPr/>
        </p:nvSpPr>
        <p:spPr>
          <a:xfrm>
            <a:off x="1447800" y="2514600"/>
            <a:ext cx="9448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b="1" dirty="0"/>
              <a:t>The Message:      </a:t>
            </a:r>
            <a:r>
              <a:rPr lang="en-US" dirty="0"/>
              <a:t>Encourage Hybrid Energy Sources During Construction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Why:                   </a:t>
            </a:r>
            <a:r>
              <a:rPr lang="en-US" dirty="0"/>
              <a:t>To Save Costs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To:                       </a:t>
            </a:r>
            <a:r>
              <a:rPr lang="en-US" dirty="0"/>
              <a:t>Contractors &amp; PMs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Through:</a:t>
            </a:r>
            <a:r>
              <a:rPr lang="en-US" dirty="0"/>
              <a:t>            WhatsApp, LinkedIn, professional networks</a:t>
            </a:r>
          </a:p>
          <a:p>
            <a:pPr marL="285750" indent="-285750">
              <a:buFontTx/>
              <a:buChar char="-"/>
            </a:pPr>
            <a:r>
              <a:rPr lang="en-US" b="1" dirty="0"/>
              <a:t>With:                  </a:t>
            </a:r>
            <a:r>
              <a:rPr lang="en-US" dirty="0"/>
              <a:t>Infographic campaigns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1137BE-76D5-7BD4-E610-A6CC336614CF}"/>
              </a:ext>
            </a:extLst>
          </p:cNvPr>
          <p:cNvSpPr txBox="1"/>
          <p:nvPr/>
        </p:nvSpPr>
        <p:spPr>
          <a:xfrm>
            <a:off x="4572000" y="1535668"/>
            <a:ext cx="944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Reaching Out</a:t>
            </a:r>
            <a:endParaRPr lang="en-AE" dirty="0"/>
          </a:p>
        </p:txBody>
      </p:sp>
    </p:spTree>
    <p:extLst>
      <p:ext uri="{BB962C8B-B14F-4D97-AF65-F5344CB8AC3E}">
        <p14:creationId xmlns:p14="http://schemas.microsoft.com/office/powerpoint/2010/main" val="36764215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1"/>
          <p:cNvSpPr/>
          <p:nvPr/>
        </p:nvSpPr>
        <p:spPr>
          <a:xfrm>
            <a:off x="3098381" y="2840808"/>
            <a:ext cx="852800" cy="852800"/>
          </a:xfrm>
          <a:prstGeom prst="ellipse">
            <a:avLst/>
          </a:prstGeom>
          <a:solidFill>
            <a:srgbClr val="F89AE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>
              <a:buClr>
                <a:srgbClr val="000000"/>
              </a:buClr>
              <a:buSzPts val="1400"/>
            </a:pP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31"/>
          <p:cNvSpPr txBox="1"/>
          <p:nvPr/>
        </p:nvSpPr>
        <p:spPr>
          <a:xfrm>
            <a:off x="2579833" y="3638827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l" rtl="0"/>
            <a:r>
              <a:rPr lang="en" sz="1600" b="1">
                <a:solidFill>
                  <a:srgbClr val="A41F31"/>
                </a:solidFill>
                <a:latin typeface="Poppins"/>
                <a:ea typeface="Poppins"/>
                <a:cs typeface="Poppins"/>
                <a:sym typeface="Poppins"/>
              </a:rPr>
              <a:t>Nimatullahi Masuud</a:t>
            </a:r>
            <a:endParaRPr sz="5867" b="1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 rtl="0">
              <a:lnSpc>
                <a:spcPct val="110000"/>
              </a:lnSpc>
              <a:spcBef>
                <a:spcPts val="1600"/>
              </a:spcBef>
            </a:pPr>
            <a:r>
              <a:rPr lang="en" sz="1067" i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       Data Scientist</a:t>
            </a:r>
            <a:endParaRPr/>
          </a:p>
          <a:p>
            <a:pPr algn="l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</a:pPr>
            <a:endParaRPr sz="1600">
              <a:solidFill>
                <a:srgbClr val="2B2B2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2" name="Google Shape;162;p31"/>
          <p:cNvSpPr/>
          <p:nvPr/>
        </p:nvSpPr>
        <p:spPr>
          <a:xfrm>
            <a:off x="1018563" y="2780664"/>
            <a:ext cx="852800" cy="852800"/>
          </a:xfrm>
          <a:prstGeom prst="ellipse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>
              <a:buClr>
                <a:srgbClr val="000000"/>
              </a:buClr>
              <a:buSzPts val="1400"/>
            </a:pP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1"/>
          <p:cNvSpPr txBox="1"/>
          <p:nvPr/>
        </p:nvSpPr>
        <p:spPr>
          <a:xfrm>
            <a:off x="614581" y="3635805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l" rtl="0"/>
            <a:r>
              <a:rPr lang="en" sz="1600" b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Ghyath Ibrahim</a:t>
            </a:r>
            <a:endParaRPr sz="3200" b="1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 rtl="0">
              <a:lnSpc>
                <a:spcPct val="110000"/>
              </a:lnSpc>
              <a:spcBef>
                <a:spcPts val="1600"/>
              </a:spcBef>
            </a:pPr>
            <a:r>
              <a:rPr lang="en" sz="1067" i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       Electrical Engineer</a:t>
            </a:r>
            <a:endParaRPr/>
          </a:p>
          <a:p>
            <a:pPr algn="l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200"/>
            </a:pPr>
            <a:endParaRPr sz="1600" b="1">
              <a:solidFill>
                <a:srgbClr val="A41F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4" name="Google Shape;164;p31"/>
          <p:cNvSpPr/>
          <p:nvPr/>
        </p:nvSpPr>
        <p:spPr>
          <a:xfrm>
            <a:off x="7344337" y="2852356"/>
            <a:ext cx="852800" cy="852800"/>
          </a:xfrm>
          <a:prstGeom prst="ellipse">
            <a:avLst/>
          </a:prstGeom>
          <a:solidFill>
            <a:srgbClr val="FFCC8B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>
              <a:buClr>
                <a:srgbClr val="000000"/>
              </a:buClr>
              <a:buSzPts val="1400"/>
            </a:pP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31"/>
          <p:cNvSpPr/>
          <p:nvPr/>
        </p:nvSpPr>
        <p:spPr>
          <a:xfrm>
            <a:off x="5382685" y="2843428"/>
            <a:ext cx="852800" cy="852800"/>
          </a:xfrm>
          <a:prstGeom prst="ellipse">
            <a:avLst/>
          </a:prstGeom>
          <a:solidFill>
            <a:srgbClr val="B1CDFB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>
              <a:buClr>
                <a:srgbClr val="000000"/>
              </a:buClr>
              <a:buSzPts val="1400"/>
            </a:pP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31"/>
          <p:cNvSpPr txBox="1">
            <a:spLocks noGrp="1"/>
          </p:cNvSpPr>
          <p:nvPr>
            <p:ph type="title" idx="4294967295"/>
          </p:nvPr>
        </p:nvSpPr>
        <p:spPr>
          <a:xfrm>
            <a:off x="4195682" y="641350"/>
            <a:ext cx="4810125" cy="577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algn="l" rtl="0">
              <a:buSzPct val="111111"/>
            </a:pPr>
            <a:r>
              <a:rPr lang="en" dirty="0"/>
              <a:t>Meet the Nerds</a:t>
            </a:r>
            <a:endParaRPr dirty="0"/>
          </a:p>
        </p:txBody>
      </p:sp>
      <p:sp>
        <p:nvSpPr>
          <p:cNvPr id="168" name="Google Shape;168;p31"/>
          <p:cNvSpPr txBox="1"/>
          <p:nvPr/>
        </p:nvSpPr>
        <p:spPr>
          <a:xfrm>
            <a:off x="4910345" y="3651275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l" rtl="0">
              <a:buClr>
                <a:srgbClr val="000000"/>
              </a:buClr>
              <a:buSzPts val="1200"/>
            </a:pPr>
            <a:r>
              <a:rPr lang="en" sz="1600" b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Tamir El-Waleed</a:t>
            </a:r>
            <a:endParaRPr sz="1067" b="1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 rtl="0">
              <a:spcBef>
                <a:spcPts val="1600"/>
              </a:spcBef>
              <a:buClr>
                <a:srgbClr val="000000"/>
              </a:buClr>
              <a:buSzPts val="800"/>
            </a:pPr>
            <a:r>
              <a:rPr lang="en" sz="1067" b="1" i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          </a:t>
            </a:r>
            <a:r>
              <a:rPr lang="en" sz="1067" i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Planning Engineer</a:t>
            </a:r>
            <a:endParaRPr/>
          </a:p>
          <a:p>
            <a:pPr algn="l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600"/>
            </a:pPr>
            <a:endParaRPr sz="2133" b="1">
              <a:solidFill>
                <a:srgbClr val="A41F3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69" name="Google Shape;169;p31"/>
          <p:cNvSpPr txBox="1"/>
          <p:nvPr/>
        </p:nvSpPr>
        <p:spPr>
          <a:xfrm>
            <a:off x="6898101" y="3660800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l" rtl="0"/>
            <a:r>
              <a:rPr lang="en" sz="1600" b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Lukmon Olamilekan </a:t>
            </a:r>
            <a:endParaRPr sz="1600" b="1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 rtl="0">
              <a:spcBef>
                <a:spcPts val="1600"/>
              </a:spcBef>
              <a:buClr>
                <a:schemeClr val="dk1"/>
              </a:buClr>
              <a:buSzPts val="800"/>
            </a:pPr>
            <a:r>
              <a:rPr lang="en" sz="1067" b="1" i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         </a:t>
            </a:r>
            <a:r>
              <a:rPr lang="en" sz="1067" i="1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Biomaterials Engineer</a:t>
            </a:r>
            <a:endParaRPr>
              <a:solidFill>
                <a:schemeClr val="dk1"/>
              </a:solidFill>
            </a:endParaRPr>
          </a:p>
          <a:p>
            <a:pPr algn="l" rtl="0">
              <a:spcAft>
                <a:spcPts val="1600"/>
              </a:spcAft>
            </a:pPr>
            <a:endParaRPr sz="1600" b="1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70" name="Google Shape;170;p31"/>
          <p:cNvSpPr/>
          <p:nvPr/>
        </p:nvSpPr>
        <p:spPr>
          <a:xfrm>
            <a:off x="9811295" y="2903551"/>
            <a:ext cx="852800" cy="852800"/>
          </a:xfrm>
          <a:prstGeom prst="ellipse">
            <a:avLst/>
          </a:prstGeom>
          <a:solidFill>
            <a:srgbClr val="F4FF8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 rtl="0">
              <a:buClr>
                <a:srgbClr val="000000"/>
              </a:buClr>
              <a:buSzPts val="1400"/>
            </a:pPr>
            <a:endParaRPr sz="18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2" name="Google Shape;17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095999"/>
            <a:ext cx="685800" cy="762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03577" y="2957089"/>
            <a:ext cx="482772" cy="482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3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32378" y="2973230"/>
            <a:ext cx="563623" cy="5636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3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206498" y="2928282"/>
            <a:ext cx="653516" cy="653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477026" y="2961339"/>
            <a:ext cx="587404" cy="587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3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931872" y="3053291"/>
            <a:ext cx="553328" cy="553328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1"/>
          <p:cNvSpPr txBox="1"/>
          <p:nvPr/>
        </p:nvSpPr>
        <p:spPr>
          <a:xfrm>
            <a:off x="9483037" y="3633464"/>
            <a:ext cx="3380800" cy="1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pPr algn="l" rtl="0"/>
            <a:r>
              <a:rPr lang="en" sz="1600" b="1" dirty="0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Yool Malaak </a:t>
            </a:r>
            <a:endParaRPr sz="1600" b="1" dirty="0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 rtl="0">
              <a:spcBef>
                <a:spcPts val="1600"/>
              </a:spcBef>
              <a:buClr>
                <a:schemeClr val="dk1"/>
              </a:buClr>
              <a:buSzPts val="800"/>
            </a:pPr>
            <a:r>
              <a:rPr lang="en" sz="1067" b="1" i="1" dirty="0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         </a:t>
            </a:r>
            <a:r>
              <a:rPr lang="en" sz="1067" i="1" dirty="0">
                <a:solidFill>
                  <a:srgbClr val="980000"/>
                </a:solidFill>
                <a:latin typeface="Poppins"/>
                <a:ea typeface="Poppins"/>
                <a:cs typeface="Poppins"/>
                <a:sym typeface="Poppins"/>
              </a:rPr>
              <a:t>Civil Engineer</a:t>
            </a:r>
            <a:endParaRPr dirty="0">
              <a:solidFill>
                <a:schemeClr val="dk1"/>
              </a:solidFill>
            </a:endParaRPr>
          </a:p>
          <a:p>
            <a:pPr algn="l" rtl="0">
              <a:spcAft>
                <a:spcPts val="1600"/>
              </a:spcAft>
            </a:pPr>
            <a:endParaRPr sz="1600" b="1" dirty="0">
              <a:solidFill>
                <a:srgbClr val="98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2262D978-3563-A71F-69CA-9E8556773664}"/>
              </a:ext>
            </a:extLst>
          </p:cNvPr>
          <p:cNvSpPr/>
          <p:nvPr/>
        </p:nvSpPr>
        <p:spPr>
          <a:xfrm>
            <a:off x="0" y="1143000"/>
            <a:ext cx="12192000" cy="152400"/>
          </a:xfrm>
          <a:custGeom>
            <a:avLst/>
            <a:gdLst/>
            <a:ahLst/>
            <a:cxnLst/>
            <a:rect l="l" t="t" r="r" b="b"/>
            <a:pathLst>
              <a:path w="11734800" h="76200">
                <a:moveTo>
                  <a:pt x="38100" y="0"/>
                </a:moveTo>
                <a:lnTo>
                  <a:pt x="0" y="38100"/>
                </a:lnTo>
                <a:lnTo>
                  <a:pt x="38100" y="76200"/>
                </a:lnTo>
                <a:lnTo>
                  <a:pt x="73025" y="41275"/>
                </a:lnTo>
                <a:lnTo>
                  <a:pt x="38100" y="41275"/>
                </a:lnTo>
                <a:lnTo>
                  <a:pt x="38100" y="34925"/>
                </a:lnTo>
                <a:lnTo>
                  <a:pt x="73025" y="34925"/>
                </a:lnTo>
                <a:lnTo>
                  <a:pt x="38100" y="0"/>
                </a:lnTo>
                <a:close/>
              </a:path>
              <a:path w="11734800" h="76200">
                <a:moveTo>
                  <a:pt x="11696700" y="0"/>
                </a:moveTo>
                <a:lnTo>
                  <a:pt x="11658600" y="38100"/>
                </a:lnTo>
                <a:lnTo>
                  <a:pt x="11696700" y="76200"/>
                </a:lnTo>
                <a:lnTo>
                  <a:pt x="11731625" y="41275"/>
                </a:lnTo>
                <a:lnTo>
                  <a:pt x="11696700" y="41275"/>
                </a:lnTo>
                <a:lnTo>
                  <a:pt x="11696700" y="34925"/>
                </a:lnTo>
                <a:lnTo>
                  <a:pt x="11731625" y="34925"/>
                </a:lnTo>
                <a:lnTo>
                  <a:pt x="11696700" y="0"/>
                </a:lnTo>
                <a:close/>
              </a:path>
              <a:path w="11734800" h="76200">
                <a:moveTo>
                  <a:pt x="73025" y="34925"/>
                </a:moveTo>
                <a:lnTo>
                  <a:pt x="38100" y="34925"/>
                </a:lnTo>
                <a:lnTo>
                  <a:pt x="38100" y="41275"/>
                </a:lnTo>
                <a:lnTo>
                  <a:pt x="73025" y="41275"/>
                </a:lnTo>
                <a:lnTo>
                  <a:pt x="76200" y="38100"/>
                </a:lnTo>
                <a:lnTo>
                  <a:pt x="73025" y="34925"/>
                </a:lnTo>
                <a:close/>
              </a:path>
              <a:path w="11734800" h="76200">
                <a:moveTo>
                  <a:pt x="11661775" y="34925"/>
                </a:moveTo>
                <a:lnTo>
                  <a:pt x="73025" y="34925"/>
                </a:lnTo>
                <a:lnTo>
                  <a:pt x="76200" y="38100"/>
                </a:lnTo>
                <a:lnTo>
                  <a:pt x="73025" y="41275"/>
                </a:lnTo>
                <a:lnTo>
                  <a:pt x="11661775" y="41275"/>
                </a:lnTo>
                <a:lnTo>
                  <a:pt x="11658600" y="38100"/>
                </a:lnTo>
                <a:lnTo>
                  <a:pt x="11661775" y="34925"/>
                </a:lnTo>
                <a:close/>
              </a:path>
              <a:path w="11734800" h="76200">
                <a:moveTo>
                  <a:pt x="11731625" y="34925"/>
                </a:moveTo>
                <a:lnTo>
                  <a:pt x="11696700" y="34925"/>
                </a:lnTo>
                <a:lnTo>
                  <a:pt x="11696700" y="41275"/>
                </a:lnTo>
                <a:lnTo>
                  <a:pt x="11731625" y="41275"/>
                </a:lnTo>
                <a:lnTo>
                  <a:pt x="11734800" y="38100"/>
                </a:lnTo>
                <a:lnTo>
                  <a:pt x="11731625" y="34925"/>
                </a:lnTo>
                <a:close/>
              </a:path>
            </a:pathLst>
          </a:custGeom>
          <a:solidFill>
            <a:srgbClr val="035069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6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35069">
              <a:alpha val="76861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029200" y="2895600"/>
            <a:ext cx="239712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dirty="0">
                <a:solidFill>
                  <a:srgbClr val="FFFFFF"/>
                </a:solidFill>
                <a:latin typeface="Arial"/>
                <a:cs typeface="Arial"/>
              </a:rPr>
              <a:t>Thank</a:t>
            </a:r>
            <a:r>
              <a:rPr sz="4000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4000" spc="-25" dirty="0">
                <a:solidFill>
                  <a:srgbClr val="FFFFFF"/>
                </a:solidFill>
                <a:latin typeface="Arial"/>
                <a:cs typeface="Arial"/>
              </a:rPr>
              <a:t>you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721225" y="2603500"/>
            <a:ext cx="1184275" cy="1651000"/>
          </a:xfrm>
          <a:custGeom>
            <a:avLst/>
            <a:gdLst/>
            <a:ahLst/>
            <a:cxnLst/>
            <a:rect l="l" t="t" r="r" b="b"/>
            <a:pathLst>
              <a:path w="1184275" h="1651000">
                <a:moveTo>
                  <a:pt x="1181735" y="165100"/>
                </a:moveTo>
                <a:lnTo>
                  <a:pt x="1184275" y="0"/>
                </a:lnTo>
                <a:lnTo>
                  <a:pt x="0" y="0"/>
                </a:lnTo>
                <a:lnTo>
                  <a:pt x="0" y="1651000"/>
                </a:lnTo>
                <a:lnTo>
                  <a:pt x="1171575" y="1651000"/>
                </a:lnTo>
                <a:lnTo>
                  <a:pt x="1171575" y="1440180"/>
                </a:lnTo>
              </a:path>
            </a:pathLst>
          </a:custGeom>
          <a:ln w="762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5B866-7E0B-11B4-5267-F689DA4F4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A1EB87BF-9B7B-2B8A-4945-D2D751EADC5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6"/>
          </a:xfrm>
          <a:prstGeom prst="rect">
            <a:avLst/>
          </a:prstGeom>
        </p:spPr>
      </p:pic>
      <p:sp>
        <p:nvSpPr>
          <p:cNvPr id="4" name="object 4">
            <a:extLst>
              <a:ext uri="{FF2B5EF4-FFF2-40B4-BE49-F238E27FC236}">
                <a16:creationId xmlns:a16="http://schemas.microsoft.com/office/drawing/2014/main" id="{AD14628E-1319-8B17-4A1D-915E464311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29200" y="2895600"/>
            <a:ext cx="239712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4000" dirty="0">
                <a:latin typeface="Arial"/>
                <a:cs typeface="Arial"/>
              </a:rPr>
              <a:t>Q&amp;A</a:t>
            </a:r>
            <a:endParaRPr sz="4000" dirty="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5E99C78-E1A0-BAAC-17F5-B26D93EA3DF7}"/>
              </a:ext>
            </a:extLst>
          </p:cNvPr>
          <p:cNvSpPr/>
          <p:nvPr/>
        </p:nvSpPr>
        <p:spPr>
          <a:xfrm rot="10800000">
            <a:off x="5334001" y="2603500"/>
            <a:ext cx="1184275" cy="1651000"/>
          </a:xfrm>
          <a:custGeom>
            <a:avLst/>
            <a:gdLst/>
            <a:ahLst/>
            <a:cxnLst/>
            <a:rect l="l" t="t" r="r" b="b"/>
            <a:pathLst>
              <a:path w="1184275" h="1651000">
                <a:moveTo>
                  <a:pt x="1181735" y="165100"/>
                </a:moveTo>
                <a:lnTo>
                  <a:pt x="1184275" y="0"/>
                </a:lnTo>
                <a:lnTo>
                  <a:pt x="0" y="0"/>
                </a:lnTo>
                <a:lnTo>
                  <a:pt x="0" y="1651000"/>
                </a:lnTo>
                <a:lnTo>
                  <a:pt x="1171575" y="1651000"/>
                </a:lnTo>
                <a:lnTo>
                  <a:pt x="1171575" y="1440180"/>
                </a:lnTo>
              </a:path>
            </a:pathLst>
          </a:custGeom>
          <a:ln w="762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928997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256</TotalTime>
  <Words>370</Words>
  <Application>Microsoft Office PowerPoint</Application>
  <PresentationFormat>Widescreen</PresentationFormat>
  <Paragraphs>77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Gill Sans MT</vt:lpstr>
      <vt:lpstr>Poppins</vt:lpstr>
      <vt:lpstr>Gallery</vt:lpstr>
      <vt:lpstr>Construction Sites &amp; Renewable Energy </vt:lpstr>
      <vt:lpstr>PowerPoint Presentation</vt:lpstr>
      <vt:lpstr>Introduction</vt:lpstr>
      <vt:lpstr>The Problem</vt:lpstr>
      <vt:lpstr>Our Approach</vt:lpstr>
      <vt:lpstr>PowerPoint Presentation</vt:lpstr>
      <vt:lpstr>Key Findings</vt:lpstr>
      <vt:lpstr>PowerPoint Presentation</vt:lpstr>
      <vt:lpstr>Communications &amp; Impact</vt:lpstr>
      <vt:lpstr>Meet the Nerds</vt:lpstr>
      <vt:lpstr>Thank you</vt:lpstr>
      <vt:lpstr>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Alotaiba, Mariam [NN-AE]</dc:creator>
  <cp:lastModifiedBy>Laz User3</cp:lastModifiedBy>
  <cp:revision>5</cp:revision>
  <dcterms:created xsi:type="dcterms:W3CDTF">2025-07-11T10:35:00Z</dcterms:created>
  <dcterms:modified xsi:type="dcterms:W3CDTF">2025-08-27T19:56:56Z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2025-07-02T00:00:00Z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2025-07-11T00:00:00Z</vt:filetime>
  </property>
  <property fmtid="{D5CDD505-2E9C-101B-9397-08002B2CF9AE}" pid="5" name="Producer">
    <vt:lpwstr>3-Heights(TM) PDF Security Shell 4.8.25.2 (http://www.pdf-tools.com)</vt:lpwstr>
  </property>
</Properties>
</file>